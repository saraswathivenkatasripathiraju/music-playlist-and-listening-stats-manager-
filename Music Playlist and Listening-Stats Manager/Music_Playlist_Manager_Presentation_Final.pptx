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details are based on the supplied MusicPlaylistManager.java file and the course screenshot. KLH logo downloaded from the official KLH website: https://klh.edu.in/wp-content/uploads/2024/08/Lg.png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feature list reflects the updated Java code. Course framing and CO4–CO6 topics come from the screenshot provided by the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classes are nested in MusicPlaylistManager.java to keep the project in one source file. PlaylistManager has a List&lt;Song&gt;; Song has ListeningStats.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sequence summarizes the menu actions and data flow implemented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 outcome CO4 wording is taken from the supplied screenshot. Exception handling in the code covers numeric input, song-index validation, invalid song data and file input/output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CO5 topics come from the supplied screenshot. The code uses String, StringBuilder, Comparator, Predicate, Files.readAllLines and Files.write.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Predicate is java.util.function.Predicate, a standard functional interface. The code uses a lambda to search songs and streams to sort, rank and calculate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Sample songs and durations are the defaults in the updated source code. Their initial combined duration is 354 + 390 = 744 seconds, or 12 minutes 24 seconds. The table is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9B53D7C-96C7-4271-A510-11DFDD1B4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40366B9-C86F-4D14-AC12-7D0253273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C5A5F4B-019A-4231-9794-DD742774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5E65CA1-43A8-4CBB-A8E7-FB450106C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7B3DDEC-0786-41AA-A174-7CC8E3A44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6DE5513-7A68-46BB-86C8-AD00E385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F726C47-FB49-46F6-A31C-F187F2E2D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CB42BCF-DC1B-4D59-9BEE-5D0A41A8BE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CDA754C-1275-4E89-A63D-C4121A5E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24CD5C1-919F-4CB9-B8EC-F877E7BB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title">
            <a:extLst>
              <a:ext uri="{FF2B5EF4-FFF2-40B4-BE49-F238E27FC236}">
                <a16:creationId xmlns:a16="http://schemas.microsoft.com/office/drawing/2014/main" id="{58722D4D-E25E-4F83-A945-F6BF892445C8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66675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Music Playlist</a:t>
            </a:r>
          </a:p>
          <a:p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&amp; Listening Stats</a:t>
            </a:r>
          </a:p>
          <a:p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Manager</a:t>
            </a:r>
          </a:p>
        </p:txBody>
      </p:sp>
      <p:sp>
        <p:nvSpPr>
          <p:cNvPr id="2" name="cover-gold-rule">
            <a:extLst>
              <a:ext uri="{FF2B5EF4-FFF2-40B4-BE49-F238E27FC236}">
                <a16:creationId xmlns:a16="http://schemas.microsoft.com/office/drawing/2014/main" id="{80EB07F5-6491-4221-AF40-473D74B34959}"/>
              </a:ext>
            </a:extLst>
          </p:cNvPr>
          <p:cNvSpPr>
            <a:spLocks noGrp="1"/>
          </p:cNvSpPr>
          <p:nvPr/>
        </p:nvSpPr>
        <p:spPr>
          <a:xfrm>
            <a:off x="800100" y="4038600"/>
            <a:ext cx="990600" cy="57150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3" name="cover-course">
            <a:extLst>
              <a:ext uri="{FF2B5EF4-FFF2-40B4-BE49-F238E27FC236}">
                <a16:creationId xmlns:a16="http://schemas.microsoft.com/office/drawing/2014/main" id="{329A2157-2B6D-4FF6-A0AB-CF83E2378614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0">
                <a:solidFill>
                  <a:srgbClr val="E4EAF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E4EAF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4EAF3"/>
                </a:solidFill>
                <a:latin typeface="Aptos"/>
                <a:ea typeface="Aptos"/>
                <a:cs typeface="Aptos"/>
              </a:rPr>
              <a:t>Problem Solving Using Programming (Java)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E4EAF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4EAF3"/>
                </a:solidFill>
                <a:latin typeface="Aptos"/>
                <a:ea typeface="Aptos"/>
                <a:cs typeface="Aptos"/>
              </a:rPr>
              <a:t>26SC1101E · ESC</a:t>
            </a:r>
          </a:p>
        </p:txBody>
      </p:sp>
      <p:sp>
        <p:nvSpPr>
          <p:cNvPr id="4" name="cover-presenter">
            <a:extLst>
              <a:ext uri="{FF2B5EF4-FFF2-40B4-BE49-F238E27FC236}">
                <a16:creationId xmlns:a16="http://schemas.microsoft.com/office/drawing/2014/main" id="{87247CD0-9ED0-4A13-952A-E86BE6551724}"/>
              </a:ext>
            </a:extLst>
          </p:cNvPr>
          <p:cNvSpPr>
            <a:spLocks noGrp="1"/>
          </p:cNvSpPr>
          <p:nvPr/>
        </p:nvSpPr>
        <p:spPr>
          <a:xfrm>
            <a:off x="800100" y="5467350"/>
            <a:ext cx="695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SARASWATHI VENKATA SRIPATHI RAJU</a:t>
            </a:r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36A6229B-37E9-4C91-9B64-7B8D6D75F8B3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D6DEE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575" b="0">
                <a:solidFill>
                  <a:srgbClr val="D6DE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6DEEA"/>
                </a:solidFill>
                <a:latin typeface="Aptos"/>
                <a:ea typeface="Aptos"/>
                <a:cs typeface="Aptos"/>
              </a:rPr>
              <a:t>16 October 2026</a:t>
            </a:r>
          </a:p>
        </p:txBody>
      </p:sp>
      <p:sp>
        <p:nvSpPr>
          <p:cNvPr id="6" name="logo-ground">
            <a:extLst>
              <a:ext uri="{FF2B5EF4-FFF2-40B4-BE49-F238E27FC236}">
                <a16:creationId xmlns:a16="http://schemas.microsoft.com/office/drawing/2014/main" id="{80BB80A5-95DA-479B-9A3F-6BF58FAE2F0B}"/>
              </a:ext>
            </a:extLst>
          </p:cNvPr>
          <p:cNvSpPr>
            <a:spLocks noGrp="1"/>
          </p:cNvSpPr>
          <p:nvPr/>
        </p:nvSpPr>
        <p:spPr>
          <a:xfrm>
            <a:off x="8096250" y="2019300"/>
            <a:ext cx="3238500" cy="1828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52E125-37D0-417C-9A5A-C3F6262BC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13431" y="2114550"/>
            <a:ext cx="2204139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0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2-title">
            <a:extLst>
              <a:ext uri="{FF2B5EF4-FFF2-40B4-BE49-F238E27FC236}">
                <a16:creationId xmlns:a16="http://schemas.microsoft.com/office/drawing/2014/main" id="{CECDD4BA-1A5D-4F23-9A0B-0AAA0B84B7B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2" name="slide-2-title-rule">
            <a:extLst>
              <a:ext uri="{FF2B5EF4-FFF2-40B4-BE49-F238E27FC236}">
                <a16:creationId xmlns:a16="http://schemas.microsoft.com/office/drawing/2014/main" id="{0D9457B7-DD38-478F-879F-D1CC4556A10D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76300" cy="47625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3" name="overview-lead">
            <a:extLst>
              <a:ext uri="{FF2B5EF4-FFF2-40B4-BE49-F238E27FC236}">
                <a16:creationId xmlns:a16="http://schemas.microsoft.com/office/drawing/2014/main" id="{B38A08BB-7F88-422E-B9ED-8679C2970D67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4572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5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A Java console app for managing a playlist and keeping a listening history.</a:t>
            </a:r>
          </a:p>
        </p:txBody>
      </p:sp>
      <p:sp>
        <p:nvSpPr>
          <p:cNvPr id="4" name="overview-support">
            <a:extLst>
              <a:ext uri="{FF2B5EF4-FFF2-40B4-BE49-F238E27FC236}">
                <a16:creationId xmlns:a16="http://schemas.microsoft.com/office/drawing/2014/main" id="{DE27F396-15CA-44B5-8DA8-A66A21EE1D3D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44958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1637C"/>
                </a:solidFill>
                <a:latin typeface="Aptos"/>
                <a:ea typeface="Aptos"/>
                <a:cs typeface="Aptos"/>
              </a:rPr>
              <a:t>Track details and playback statistics stay together in a small object model.</a:t>
            </a:r>
          </a:p>
        </p:txBody>
      </p:sp>
      <p:sp>
        <p:nvSpPr>
          <p:cNvPr id="5" name="overview-label-1">
            <a:extLst>
              <a:ext uri="{FF2B5EF4-FFF2-40B4-BE49-F238E27FC236}">
                <a16:creationId xmlns:a16="http://schemas.microsoft.com/office/drawing/2014/main" id="{260A886B-1A15-4AEF-8981-46802005FDC6}"/>
              </a:ext>
            </a:extLst>
          </p:cNvPr>
          <p:cNvSpPr>
            <a:spLocks noGrp="1"/>
          </p:cNvSpPr>
          <p:nvPr/>
        </p:nvSpPr>
        <p:spPr>
          <a:xfrm>
            <a:off x="6191250" y="1752600"/>
            <a:ext cx="1562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ADD</a:t>
            </a:r>
          </a:p>
        </p:txBody>
      </p:sp>
      <p:sp>
        <p:nvSpPr>
          <p:cNvPr id="6" name="overview-item-1">
            <a:extLst>
              <a:ext uri="{FF2B5EF4-FFF2-40B4-BE49-F238E27FC236}">
                <a16:creationId xmlns:a16="http://schemas.microsoft.com/office/drawing/2014/main" id="{9B47903D-ED60-4984-9003-D748730CF592}"/>
              </a:ext>
            </a:extLst>
          </p:cNvPr>
          <p:cNvSpPr>
            <a:spLocks noGrp="1"/>
          </p:cNvSpPr>
          <p:nvPr/>
        </p:nvSpPr>
        <p:spPr>
          <a:xfrm>
            <a:off x="7810500" y="1743075"/>
            <a:ext cx="361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Store a title, artist and duration.</a:t>
            </a:r>
          </a:p>
        </p:txBody>
      </p:sp>
      <p:sp>
        <p:nvSpPr>
          <p:cNvPr id="7" name="overview-label-2">
            <a:extLst>
              <a:ext uri="{FF2B5EF4-FFF2-40B4-BE49-F238E27FC236}">
                <a16:creationId xmlns:a16="http://schemas.microsoft.com/office/drawing/2014/main" id="{7B19DE0C-D1F7-485B-9A1B-D9CBCF375656}"/>
              </a:ext>
            </a:extLst>
          </p:cNvPr>
          <p:cNvSpPr>
            <a:spLocks noGrp="1"/>
          </p:cNvSpPr>
          <p:nvPr/>
        </p:nvSpPr>
        <p:spPr>
          <a:xfrm>
            <a:off x="6191250" y="2533650"/>
            <a:ext cx="1562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PLAY</a:t>
            </a:r>
          </a:p>
        </p:txBody>
      </p:sp>
      <p:sp>
        <p:nvSpPr>
          <p:cNvPr id="8" name="overview-item-2">
            <a:extLst>
              <a:ext uri="{FF2B5EF4-FFF2-40B4-BE49-F238E27FC236}">
                <a16:creationId xmlns:a16="http://schemas.microsoft.com/office/drawing/2014/main" id="{0CA8E9BA-8FEA-4D22-B70E-2D68288640AA}"/>
              </a:ext>
            </a:extLst>
          </p:cNvPr>
          <p:cNvSpPr>
            <a:spLocks noGrp="1"/>
          </p:cNvSpPr>
          <p:nvPr/>
        </p:nvSpPr>
        <p:spPr>
          <a:xfrm>
            <a:off x="7810500" y="2524125"/>
            <a:ext cx="361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Record play count and listening time.</a:t>
            </a:r>
          </a:p>
        </p:txBody>
      </p:sp>
      <p:sp>
        <p:nvSpPr>
          <p:cNvPr id="9" name="overview-label-3">
            <a:extLst>
              <a:ext uri="{FF2B5EF4-FFF2-40B4-BE49-F238E27FC236}">
                <a16:creationId xmlns:a16="http://schemas.microsoft.com/office/drawing/2014/main" id="{3116CDA5-E224-4699-9444-46205165ED7D}"/>
              </a:ext>
            </a:extLst>
          </p:cNvPr>
          <p:cNvSpPr>
            <a:spLocks noGrp="1"/>
          </p:cNvSpPr>
          <p:nvPr/>
        </p:nvSpPr>
        <p:spPr>
          <a:xfrm>
            <a:off x="6191250" y="3314700"/>
            <a:ext cx="1562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10" name="overview-item-3">
            <a:extLst>
              <a:ext uri="{FF2B5EF4-FFF2-40B4-BE49-F238E27FC236}">
                <a16:creationId xmlns:a16="http://schemas.microsoft.com/office/drawing/2014/main" id="{FC8EBC36-30F2-46E1-B28D-B9C124A981B1}"/>
              </a:ext>
            </a:extLst>
          </p:cNvPr>
          <p:cNvSpPr>
            <a:spLocks noGrp="1"/>
          </p:cNvSpPr>
          <p:nvPr/>
        </p:nvSpPr>
        <p:spPr>
          <a:xfrm>
            <a:off x="7810500" y="3305175"/>
            <a:ext cx="361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Search by title or artist.</a:t>
            </a:r>
          </a:p>
        </p:txBody>
      </p:sp>
      <p:sp>
        <p:nvSpPr>
          <p:cNvPr id="11" name="overview-label-4">
            <a:extLst>
              <a:ext uri="{FF2B5EF4-FFF2-40B4-BE49-F238E27FC236}">
                <a16:creationId xmlns:a16="http://schemas.microsoft.com/office/drawing/2014/main" id="{61A88A42-AB4E-466E-8D75-5F7ADBF83A1D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1562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ORGANIZE</a:t>
            </a:r>
          </a:p>
        </p:txBody>
      </p:sp>
      <p:sp>
        <p:nvSpPr>
          <p:cNvPr id="12" name="overview-item-4">
            <a:extLst>
              <a:ext uri="{FF2B5EF4-FFF2-40B4-BE49-F238E27FC236}">
                <a16:creationId xmlns:a16="http://schemas.microsoft.com/office/drawing/2014/main" id="{4700C27D-FB0E-458A-BE6A-03B3AA3976A4}"/>
              </a:ext>
            </a:extLst>
          </p:cNvPr>
          <p:cNvSpPr>
            <a:spLocks noGrp="1"/>
          </p:cNvSpPr>
          <p:nvPr/>
        </p:nvSpPr>
        <p:spPr>
          <a:xfrm>
            <a:off x="7810500" y="4086225"/>
            <a:ext cx="361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Sort the playlist and review statistics.</a:t>
            </a:r>
          </a:p>
        </p:txBody>
      </p:sp>
      <p:sp>
        <p:nvSpPr>
          <p:cNvPr id="13" name="overview-label-5">
            <a:extLst>
              <a:ext uri="{FF2B5EF4-FFF2-40B4-BE49-F238E27FC236}">
                <a16:creationId xmlns:a16="http://schemas.microsoft.com/office/drawing/2014/main" id="{5C5C42C8-1B3A-4DE3-8C25-0D695BC6ACFE}"/>
              </a:ext>
            </a:extLst>
          </p:cNvPr>
          <p:cNvSpPr>
            <a:spLocks noGrp="1"/>
          </p:cNvSpPr>
          <p:nvPr/>
        </p:nvSpPr>
        <p:spPr>
          <a:xfrm>
            <a:off x="6191250" y="4876800"/>
            <a:ext cx="1562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6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KEEP</a:t>
            </a:r>
          </a:p>
        </p:txBody>
      </p:sp>
      <p:sp>
        <p:nvSpPr>
          <p:cNvPr id="14" name="overview-item-5">
            <a:extLst>
              <a:ext uri="{FF2B5EF4-FFF2-40B4-BE49-F238E27FC236}">
                <a16:creationId xmlns:a16="http://schemas.microsoft.com/office/drawing/2014/main" id="{155D716C-0320-4773-B1ED-7FC4DD925DA6}"/>
              </a:ext>
            </a:extLst>
          </p:cNvPr>
          <p:cNvSpPr>
            <a:spLocks noGrp="1"/>
          </p:cNvSpPr>
          <p:nvPr/>
        </p:nvSpPr>
        <p:spPr>
          <a:xfrm>
            <a:off x="7810500" y="4867275"/>
            <a:ext cx="361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26"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Save and reload playlist data from a text file.</a:t>
            </a:r>
          </a:p>
        </p:txBody>
      </p:sp>
    </p:spTree>
    <p:extLst>
      <p:ext uri="{BB962C8B-B14F-4D97-AF65-F5344CB8AC3E}">
        <p14:creationId xmlns:p14="http://schemas.microsoft.com/office/powerpoint/2010/main" val="128420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3-title">
            <a:extLst>
              <a:ext uri="{FF2B5EF4-FFF2-40B4-BE49-F238E27FC236}">
                <a16:creationId xmlns:a16="http://schemas.microsoft.com/office/drawing/2014/main" id="{C0736619-42F9-450A-BD35-9E71709984B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Object model</a:t>
            </a:r>
          </a:p>
        </p:txBody>
      </p:sp>
      <p:sp>
        <p:nvSpPr>
          <p:cNvPr id="2" name="slide-3-title-rule">
            <a:extLst>
              <a:ext uri="{FF2B5EF4-FFF2-40B4-BE49-F238E27FC236}">
                <a16:creationId xmlns:a16="http://schemas.microsoft.com/office/drawing/2014/main" id="{8F2A5DAF-87CB-4F43-965F-9C86FCB92B04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76300" cy="47625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3" name="model-summary">
            <a:extLst>
              <a:ext uri="{FF2B5EF4-FFF2-40B4-BE49-F238E27FC236}">
                <a16:creationId xmlns:a16="http://schemas.microsoft.com/office/drawing/2014/main" id="{590889EE-56D1-4173-8C99-4A2D8B35126E}"/>
              </a:ext>
            </a:extLst>
          </p:cNvPr>
          <p:cNvSpPr>
            <a:spLocks noGrp="1"/>
          </p:cNvSpPr>
          <p:nvPr/>
        </p:nvSpPr>
        <p:spPr>
          <a:xfrm>
            <a:off x="742950" y="15430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950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1637C"/>
                </a:solidFill>
                <a:latin typeface="Aptos"/>
                <a:ea typeface="Aptos"/>
                <a:cs typeface="Aptos"/>
              </a:rPr>
              <a:t>The playlist contains songs; each song owns its listening statistics.</a:t>
            </a:r>
          </a:p>
        </p:txBody>
      </p:sp>
      <p:sp>
        <p:nvSpPr>
          <p:cNvPr id="4" name="model-box-1">
            <a:extLst>
              <a:ext uri="{FF2B5EF4-FFF2-40B4-BE49-F238E27FC236}">
                <a16:creationId xmlns:a16="http://schemas.microsoft.com/office/drawing/2014/main" id="{46CE9780-634C-4A18-BAC8-B1AB649D8D62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10515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148"/>
            </a:solidFill>
            <a:prstDash val="solid"/>
          </a:ln>
        </p:spPr>
      </p:sp>
      <p:sp>
        <p:nvSpPr>
          <p:cNvPr id="5" name="model-head-1">
            <a:extLst>
              <a:ext uri="{FF2B5EF4-FFF2-40B4-BE49-F238E27FC236}">
                <a16:creationId xmlns:a16="http://schemas.microsoft.com/office/drawing/2014/main" id="{BA26C046-A894-4A2D-8DCF-A06F32D41B4E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105150" cy="514350"/>
          </a:xfrm>
          <a:prstGeom prst="rect">
            <a:avLst/>
          </a:prstGeom>
          <a:solidFill>
            <a:srgbClr val="0B2148"/>
          </a:solidFill>
          <a:ln w="0">
            <a:solidFill>
              <a:srgbClr val="0B2148"/>
            </a:solidFill>
            <a:prstDash val="solid"/>
          </a:ln>
        </p:spPr>
      </p:sp>
      <p:sp>
        <p:nvSpPr>
          <p:cNvPr id="6" name="model-title-1">
            <a:extLst>
              <a:ext uri="{FF2B5EF4-FFF2-40B4-BE49-F238E27FC236}">
                <a16:creationId xmlns:a16="http://schemas.microsoft.com/office/drawing/2014/main" id="{45B92491-95C5-4B1D-88CE-E2A5AF07E551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PlaylistManager</a:t>
            </a:r>
          </a:p>
        </p:txBody>
      </p:sp>
      <p:sp>
        <p:nvSpPr>
          <p:cNvPr id="7" name="model-body-1">
            <a:extLst>
              <a:ext uri="{FF2B5EF4-FFF2-40B4-BE49-F238E27FC236}">
                <a16:creationId xmlns:a16="http://schemas.microsoft.com/office/drawing/2014/main" id="{E6BBDE83-2EE4-405B-94E1-77E4564DA825}"/>
              </a:ext>
            </a:extLst>
          </p:cNvPr>
          <p:cNvSpPr>
            <a:spLocks noGrp="1"/>
          </p:cNvSpPr>
          <p:nvPr/>
        </p:nvSpPr>
        <p:spPr>
          <a:xfrm>
            <a:off x="971550" y="34480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lnSpc>
                <a:spcPct val="120000"/>
              </a:lnSpc>
              <a:buNone/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List&lt;Song&gt;</a:t>
            </a:r>
          </a:p>
          <a:p>
            <a:pPr algn="ctr">
              <a:lnSpc>
                <a:spcPct val="120000"/>
              </a:lnSpc>
              <a:buNone/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add · search · sort · load</a:t>
            </a:r>
          </a:p>
        </p:txBody>
      </p:sp>
      <p:sp>
        <p:nvSpPr>
          <p:cNvPr id="8" name="model-box-2">
            <a:extLst>
              <a:ext uri="{FF2B5EF4-FFF2-40B4-BE49-F238E27FC236}">
                <a16:creationId xmlns:a16="http://schemas.microsoft.com/office/drawing/2014/main" id="{F7FAC11B-C51E-4884-9A42-7E0CCCBAE8FE}"/>
              </a:ext>
            </a:extLst>
          </p:cNvPr>
          <p:cNvSpPr>
            <a:spLocks noGrp="1"/>
          </p:cNvSpPr>
          <p:nvPr/>
        </p:nvSpPr>
        <p:spPr>
          <a:xfrm>
            <a:off x="4533900" y="2724150"/>
            <a:ext cx="310515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148"/>
            </a:solidFill>
            <a:prstDash val="solid"/>
          </a:ln>
        </p:spPr>
      </p:sp>
      <p:sp>
        <p:nvSpPr>
          <p:cNvPr id="9" name="model-head-2">
            <a:extLst>
              <a:ext uri="{FF2B5EF4-FFF2-40B4-BE49-F238E27FC236}">
                <a16:creationId xmlns:a16="http://schemas.microsoft.com/office/drawing/2014/main" id="{E0D30817-556B-4F96-9260-BB9CBE051EB6}"/>
              </a:ext>
            </a:extLst>
          </p:cNvPr>
          <p:cNvSpPr>
            <a:spLocks noGrp="1"/>
          </p:cNvSpPr>
          <p:nvPr/>
        </p:nvSpPr>
        <p:spPr>
          <a:xfrm>
            <a:off x="4533900" y="2724150"/>
            <a:ext cx="3105150" cy="514350"/>
          </a:xfrm>
          <a:prstGeom prst="rect">
            <a:avLst/>
          </a:prstGeom>
          <a:solidFill>
            <a:srgbClr val="0B2148"/>
          </a:solidFill>
          <a:ln w="0">
            <a:solidFill>
              <a:srgbClr val="0B2148"/>
            </a:solidFill>
            <a:prstDash val="solid"/>
          </a:ln>
        </p:spPr>
      </p:sp>
      <p:sp>
        <p:nvSpPr>
          <p:cNvPr id="10" name="model-title-2">
            <a:extLst>
              <a:ext uri="{FF2B5EF4-FFF2-40B4-BE49-F238E27FC236}">
                <a16:creationId xmlns:a16="http://schemas.microsoft.com/office/drawing/2014/main" id="{9F134E44-2B01-4CFA-80AE-BC35E2509275}"/>
              </a:ext>
            </a:extLst>
          </p:cNvPr>
          <p:cNvSpPr>
            <a:spLocks noGrp="1"/>
          </p:cNvSpPr>
          <p:nvPr/>
        </p:nvSpPr>
        <p:spPr>
          <a:xfrm>
            <a:off x="4705350" y="28194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Song</a:t>
            </a:r>
          </a:p>
        </p:txBody>
      </p:sp>
      <p:sp>
        <p:nvSpPr>
          <p:cNvPr id="11" name="model-body-2">
            <a:extLst>
              <a:ext uri="{FF2B5EF4-FFF2-40B4-BE49-F238E27FC236}">
                <a16:creationId xmlns:a16="http://schemas.microsoft.com/office/drawing/2014/main" id="{D2CFFA0F-DFCF-4E65-9675-3FE962FD67A2}"/>
              </a:ext>
            </a:extLst>
          </p:cNvPr>
          <p:cNvSpPr>
            <a:spLocks noGrp="1"/>
          </p:cNvSpPr>
          <p:nvPr/>
        </p:nvSpPr>
        <p:spPr>
          <a:xfrm>
            <a:off x="4762500" y="34480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lnSpc>
                <a:spcPct val="120000"/>
              </a:lnSpc>
              <a:buNone/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title · artist · duration</a:t>
            </a:r>
          </a:p>
          <a:p>
            <a:pPr algn="ctr">
              <a:lnSpc>
                <a:spcPct val="120000"/>
              </a:lnSpc>
              <a:buNone/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contains ListeningStats</a:t>
            </a:r>
          </a:p>
        </p:txBody>
      </p:sp>
      <p:sp>
        <p:nvSpPr>
          <p:cNvPr id="12" name="model-box-3">
            <a:extLst>
              <a:ext uri="{FF2B5EF4-FFF2-40B4-BE49-F238E27FC236}">
                <a16:creationId xmlns:a16="http://schemas.microsoft.com/office/drawing/2014/main" id="{C051BD09-E077-4891-AA4F-DDB57651B4B7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310515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148"/>
            </a:solidFill>
            <a:prstDash val="solid"/>
          </a:ln>
        </p:spPr>
      </p:sp>
      <p:sp>
        <p:nvSpPr>
          <p:cNvPr id="13" name="model-head-3">
            <a:extLst>
              <a:ext uri="{FF2B5EF4-FFF2-40B4-BE49-F238E27FC236}">
                <a16:creationId xmlns:a16="http://schemas.microsoft.com/office/drawing/2014/main" id="{5D407FDB-5610-47A8-B3EC-C74BAB4948A1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3105150" cy="514350"/>
          </a:xfrm>
          <a:prstGeom prst="rect">
            <a:avLst/>
          </a:prstGeom>
          <a:solidFill>
            <a:srgbClr val="0B2148"/>
          </a:solidFill>
          <a:ln w="0">
            <a:solidFill>
              <a:srgbClr val="0B2148"/>
            </a:solidFill>
            <a:prstDash val="solid"/>
          </a:ln>
        </p:spPr>
      </p:sp>
      <p:sp>
        <p:nvSpPr>
          <p:cNvPr id="14" name="model-title-3">
            <a:extLst>
              <a:ext uri="{FF2B5EF4-FFF2-40B4-BE49-F238E27FC236}">
                <a16:creationId xmlns:a16="http://schemas.microsoft.com/office/drawing/2014/main" id="{9C40A739-A7B5-447B-9488-268C952C29E7}"/>
              </a:ext>
            </a:extLst>
          </p:cNvPr>
          <p:cNvSpPr>
            <a:spLocks noGrp="1"/>
          </p:cNvSpPr>
          <p:nvPr/>
        </p:nvSpPr>
        <p:spPr>
          <a:xfrm>
            <a:off x="8496300" y="28194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ListeningStats</a:t>
            </a:r>
          </a:p>
        </p:txBody>
      </p:sp>
      <p:sp>
        <p:nvSpPr>
          <p:cNvPr id="15" name="model-body-3">
            <a:extLst>
              <a:ext uri="{FF2B5EF4-FFF2-40B4-BE49-F238E27FC236}">
                <a16:creationId xmlns:a16="http://schemas.microsoft.com/office/drawing/2014/main" id="{01323A71-2588-40DD-9CAD-E25272099322}"/>
              </a:ext>
            </a:extLst>
          </p:cNvPr>
          <p:cNvSpPr>
            <a:spLocks noGrp="1"/>
          </p:cNvSpPr>
          <p:nvPr/>
        </p:nvSpPr>
        <p:spPr>
          <a:xfrm>
            <a:off x="8553450" y="34480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lnSpc>
                <a:spcPct val="120000"/>
              </a:lnSpc>
              <a:buNone/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playCount</a:t>
            </a:r>
          </a:p>
          <a:p>
            <a:pPr algn="ctr">
              <a:lnSpc>
                <a:spcPct val="120000"/>
              </a:lnSpc>
              <a:buNone/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secondsListened</a:t>
            </a:r>
          </a:p>
        </p:txBody>
      </p:sp>
      <p:sp>
        <p:nvSpPr>
          <p:cNvPr id="16" name="model-relation-one">
            <a:extLst>
              <a:ext uri="{FF2B5EF4-FFF2-40B4-BE49-F238E27FC236}">
                <a16:creationId xmlns:a16="http://schemas.microsoft.com/office/drawing/2014/main" id="{C9799FD6-57B7-416F-B29B-3460FED1F3D8}"/>
              </a:ext>
            </a:extLst>
          </p:cNvPr>
          <p:cNvSpPr>
            <a:spLocks noGrp="1"/>
          </p:cNvSpPr>
          <p:nvPr/>
        </p:nvSpPr>
        <p:spPr>
          <a:xfrm>
            <a:off x="3848100" y="3571875"/>
            <a:ext cx="685800" cy="38100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17" name="model-relation-one-label">
            <a:extLst>
              <a:ext uri="{FF2B5EF4-FFF2-40B4-BE49-F238E27FC236}">
                <a16:creationId xmlns:a16="http://schemas.microsoft.com/office/drawing/2014/main" id="{D447CB5B-76DC-434C-A0E6-8B17A72BCD86}"/>
              </a:ext>
            </a:extLst>
          </p:cNvPr>
          <p:cNvSpPr>
            <a:spLocks noGrp="1"/>
          </p:cNvSpPr>
          <p:nvPr/>
        </p:nvSpPr>
        <p:spPr>
          <a:xfrm>
            <a:off x="3924300" y="3257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275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owns</a:t>
            </a:r>
          </a:p>
        </p:txBody>
      </p:sp>
      <p:sp>
        <p:nvSpPr>
          <p:cNvPr id="18" name="model-relation-two">
            <a:extLst>
              <a:ext uri="{FF2B5EF4-FFF2-40B4-BE49-F238E27FC236}">
                <a16:creationId xmlns:a16="http://schemas.microsoft.com/office/drawing/2014/main" id="{03CCA89D-0407-4CBC-AF1D-0EA3608968F0}"/>
              </a:ext>
            </a:extLst>
          </p:cNvPr>
          <p:cNvSpPr>
            <a:spLocks noGrp="1"/>
          </p:cNvSpPr>
          <p:nvPr/>
        </p:nvSpPr>
        <p:spPr>
          <a:xfrm>
            <a:off x="7639050" y="3571875"/>
            <a:ext cx="685800" cy="38100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19" name="model-relation-two-label">
            <a:extLst>
              <a:ext uri="{FF2B5EF4-FFF2-40B4-BE49-F238E27FC236}">
                <a16:creationId xmlns:a16="http://schemas.microsoft.com/office/drawing/2014/main" id="{2A9F485B-7A7D-48FE-A600-D9A362C213DB}"/>
              </a:ext>
            </a:extLst>
          </p:cNvPr>
          <p:cNvSpPr>
            <a:spLocks noGrp="1"/>
          </p:cNvSpPr>
          <p:nvPr/>
        </p:nvSpPr>
        <p:spPr>
          <a:xfrm>
            <a:off x="7724775" y="3257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275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has a</a:t>
            </a:r>
          </a:p>
        </p:txBody>
      </p:sp>
      <p:sp>
        <p:nvSpPr>
          <p:cNvPr id="20" name="model-footnote">
            <a:extLst>
              <a:ext uri="{FF2B5EF4-FFF2-40B4-BE49-F238E27FC236}">
                <a16:creationId xmlns:a16="http://schemas.microsoft.com/office/drawing/2014/main" id="{9B7B95B0-7970-4DD4-A066-425B14A059F9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75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Private fields keep each object's state controlled by its methods.</a:t>
            </a:r>
          </a:p>
        </p:txBody>
      </p:sp>
    </p:spTree>
    <p:extLst>
      <p:ext uri="{BB962C8B-B14F-4D97-AF65-F5344CB8AC3E}">
        <p14:creationId xmlns:p14="http://schemas.microsoft.com/office/powerpoint/2010/main" val="22582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4-title">
            <a:extLst>
              <a:ext uri="{FF2B5EF4-FFF2-40B4-BE49-F238E27FC236}">
                <a16:creationId xmlns:a16="http://schemas.microsoft.com/office/drawing/2014/main" id="{DF0E8B05-65C9-4047-AD09-0A034DBFBA0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Typical user flow</a:t>
            </a:r>
          </a:p>
        </p:txBody>
      </p:sp>
      <p:sp>
        <p:nvSpPr>
          <p:cNvPr id="2" name="slide-4-title-rule">
            <a:extLst>
              <a:ext uri="{FF2B5EF4-FFF2-40B4-BE49-F238E27FC236}">
                <a16:creationId xmlns:a16="http://schemas.microsoft.com/office/drawing/2014/main" id="{ABF43176-3EF1-47AD-8F1F-C7B4386E6D0E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76300" cy="47625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3" name="flow-number-1">
            <a:extLst>
              <a:ext uri="{FF2B5EF4-FFF2-40B4-BE49-F238E27FC236}">
                <a16:creationId xmlns:a16="http://schemas.microsoft.com/office/drawing/2014/main" id="{69DF372C-DD60-45BA-B23D-9021C7159823}"/>
              </a:ext>
            </a:extLst>
          </p:cNvPr>
          <p:cNvSpPr>
            <a:spLocks noGrp="1"/>
          </p:cNvSpPr>
          <p:nvPr/>
        </p:nvSpPr>
        <p:spPr>
          <a:xfrm>
            <a:off x="819150" y="162877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flow-label-1">
            <a:extLst>
              <a:ext uri="{FF2B5EF4-FFF2-40B4-BE49-F238E27FC236}">
                <a16:creationId xmlns:a16="http://schemas.microsoft.com/office/drawing/2014/main" id="{697C4ACE-6CAE-43D8-84C9-A3899E113661}"/>
              </a:ext>
            </a:extLst>
          </p:cNvPr>
          <p:cNvSpPr>
            <a:spLocks noGrp="1"/>
          </p:cNvSpPr>
          <p:nvPr/>
        </p:nvSpPr>
        <p:spPr>
          <a:xfrm>
            <a:off x="1695450" y="1657350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Add</a:t>
            </a:r>
          </a:p>
        </p:txBody>
      </p:sp>
      <p:sp>
        <p:nvSpPr>
          <p:cNvPr id="5" name="flow-description-1">
            <a:extLst>
              <a:ext uri="{FF2B5EF4-FFF2-40B4-BE49-F238E27FC236}">
                <a16:creationId xmlns:a16="http://schemas.microsoft.com/office/drawing/2014/main" id="{44335363-0526-4AAF-BB25-444FF45E657F}"/>
              </a:ext>
            </a:extLst>
          </p:cNvPr>
          <p:cNvSpPr>
            <a:spLocks noGrp="1"/>
          </p:cNvSpPr>
          <p:nvPr/>
        </p:nvSpPr>
        <p:spPr>
          <a:xfrm>
            <a:off x="3886200" y="1666875"/>
            <a:ext cx="7524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Enter a title, artist and duration.</a:t>
            </a:r>
          </a:p>
        </p:txBody>
      </p:sp>
      <p:sp>
        <p:nvSpPr>
          <p:cNvPr id="6" name="flow-divider-1">
            <a:extLst>
              <a:ext uri="{FF2B5EF4-FFF2-40B4-BE49-F238E27FC236}">
                <a16:creationId xmlns:a16="http://schemas.microsoft.com/office/drawing/2014/main" id="{2CA692BC-4EDE-4CC3-B5EE-8519620F258E}"/>
              </a:ext>
            </a:extLst>
          </p:cNvPr>
          <p:cNvSpPr>
            <a:spLocks noGrp="1"/>
          </p:cNvSpPr>
          <p:nvPr/>
        </p:nvSpPr>
        <p:spPr>
          <a:xfrm>
            <a:off x="1695450" y="2219325"/>
            <a:ext cx="9696450" cy="9525"/>
          </a:xfrm>
          <a:prstGeom prst="rect">
            <a:avLst/>
          </a:prstGeom>
          <a:solidFill>
            <a:srgbClr val="D7E0EC"/>
          </a:solidFill>
          <a:ln w="0">
            <a:solidFill>
              <a:srgbClr val="D7E0EC"/>
            </a:solidFill>
            <a:prstDash val="solid"/>
          </a:ln>
        </p:spPr>
      </p:sp>
      <p:sp>
        <p:nvSpPr>
          <p:cNvPr id="7" name="flow-number-2">
            <a:extLst>
              <a:ext uri="{FF2B5EF4-FFF2-40B4-BE49-F238E27FC236}">
                <a16:creationId xmlns:a16="http://schemas.microsoft.com/office/drawing/2014/main" id="{255C91B1-46B7-4AA7-AF12-F0207BE83D79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flow-label-2">
            <a:extLst>
              <a:ext uri="{FF2B5EF4-FFF2-40B4-BE49-F238E27FC236}">
                <a16:creationId xmlns:a16="http://schemas.microsoft.com/office/drawing/2014/main" id="{9A962E53-6429-495A-BBB5-243B5DFD12A3}"/>
              </a:ext>
            </a:extLst>
          </p:cNvPr>
          <p:cNvSpPr>
            <a:spLocks noGrp="1"/>
          </p:cNvSpPr>
          <p:nvPr/>
        </p:nvSpPr>
        <p:spPr>
          <a:xfrm>
            <a:off x="1695450" y="2524125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9" name="flow-description-2">
            <a:extLst>
              <a:ext uri="{FF2B5EF4-FFF2-40B4-BE49-F238E27FC236}">
                <a16:creationId xmlns:a16="http://schemas.microsoft.com/office/drawing/2014/main" id="{160FB222-72AD-4F52-B674-AB1F62A374F7}"/>
              </a:ext>
            </a:extLst>
          </p:cNvPr>
          <p:cNvSpPr>
            <a:spLocks noGrp="1"/>
          </p:cNvSpPr>
          <p:nvPr/>
        </p:nvSpPr>
        <p:spPr>
          <a:xfrm>
            <a:off x="3886200" y="2533650"/>
            <a:ext cx="7524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Reject blank details, invalid duration and duplicate tracks.</a:t>
            </a:r>
          </a:p>
        </p:txBody>
      </p:sp>
      <p:sp>
        <p:nvSpPr>
          <p:cNvPr id="10" name="flow-divider-2">
            <a:extLst>
              <a:ext uri="{FF2B5EF4-FFF2-40B4-BE49-F238E27FC236}">
                <a16:creationId xmlns:a16="http://schemas.microsoft.com/office/drawing/2014/main" id="{1F62CDA8-4584-4144-8D4F-640052D0E4AC}"/>
              </a:ext>
            </a:extLst>
          </p:cNvPr>
          <p:cNvSpPr>
            <a:spLocks noGrp="1"/>
          </p:cNvSpPr>
          <p:nvPr/>
        </p:nvSpPr>
        <p:spPr>
          <a:xfrm>
            <a:off x="1695450" y="3086100"/>
            <a:ext cx="9696450" cy="9525"/>
          </a:xfrm>
          <a:prstGeom prst="rect">
            <a:avLst/>
          </a:prstGeom>
          <a:solidFill>
            <a:srgbClr val="D7E0EC"/>
          </a:solidFill>
          <a:ln w="0">
            <a:solidFill>
              <a:srgbClr val="D7E0EC"/>
            </a:solidFill>
            <a:prstDash val="solid"/>
          </a:ln>
        </p:spPr>
      </p:sp>
      <p:sp>
        <p:nvSpPr>
          <p:cNvPr id="11" name="flow-number-3">
            <a:extLst>
              <a:ext uri="{FF2B5EF4-FFF2-40B4-BE49-F238E27FC236}">
                <a16:creationId xmlns:a16="http://schemas.microsoft.com/office/drawing/2014/main" id="{4013A342-4EB6-40A7-85C2-9DBE027DFA10}"/>
              </a:ext>
            </a:extLst>
          </p:cNvPr>
          <p:cNvSpPr>
            <a:spLocks noGrp="1"/>
          </p:cNvSpPr>
          <p:nvPr/>
        </p:nvSpPr>
        <p:spPr>
          <a:xfrm>
            <a:off x="819150" y="336232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flow-label-3">
            <a:extLst>
              <a:ext uri="{FF2B5EF4-FFF2-40B4-BE49-F238E27FC236}">
                <a16:creationId xmlns:a16="http://schemas.microsoft.com/office/drawing/2014/main" id="{CE45959C-BA05-42A0-9D93-8CA017425838}"/>
              </a:ext>
            </a:extLst>
          </p:cNvPr>
          <p:cNvSpPr>
            <a:spLocks noGrp="1"/>
          </p:cNvSpPr>
          <p:nvPr/>
        </p:nvSpPr>
        <p:spPr>
          <a:xfrm>
            <a:off x="1695450" y="3390900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Play</a:t>
            </a:r>
          </a:p>
        </p:txBody>
      </p:sp>
      <p:sp>
        <p:nvSpPr>
          <p:cNvPr id="13" name="flow-description-3">
            <a:extLst>
              <a:ext uri="{FF2B5EF4-FFF2-40B4-BE49-F238E27FC236}">
                <a16:creationId xmlns:a16="http://schemas.microsoft.com/office/drawing/2014/main" id="{D57AF061-8771-4F20-A14A-E3CB40259DC4}"/>
              </a:ext>
            </a:extLst>
          </p:cNvPr>
          <p:cNvSpPr>
            <a:spLocks noGrp="1"/>
          </p:cNvSpPr>
          <p:nvPr/>
        </p:nvSpPr>
        <p:spPr>
          <a:xfrm>
            <a:off x="3886200" y="3400425"/>
            <a:ext cx="7524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Update the selected song's count and listened seconds.</a:t>
            </a:r>
          </a:p>
        </p:txBody>
      </p:sp>
      <p:sp>
        <p:nvSpPr>
          <p:cNvPr id="14" name="flow-divider-3">
            <a:extLst>
              <a:ext uri="{FF2B5EF4-FFF2-40B4-BE49-F238E27FC236}">
                <a16:creationId xmlns:a16="http://schemas.microsoft.com/office/drawing/2014/main" id="{EC92A2B1-9AE6-40FE-9BAB-86E14BEE1A8E}"/>
              </a:ext>
            </a:extLst>
          </p:cNvPr>
          <p:cNvSpPr>
            <a:spLocks noGrp="1"/>
          </p:cNvSpPr>
          <p:nvPr/>
        </p:nvSpPr>
        <p:spPr>
          <a:xfrm>
            <a:off x="1695450" y="3952875"/>
            <a:ext cx="9696450" cy="9525"/>
          </a:xfrm>
          <a:prstGeom prst="rect">
            <a:avLst/>
          </a:prstGeom>
          <a:solidFill>
            <a:srgbClr val="D7E0EC"/>
          </a:solidFill>
          <a:ln w="0">
            <a:solidFill>
              <a:srgbClr val="D7E0EC"/>
            </a:solidFill>
            <a:prstDash val="solid"/>
          </a:ln>
        </p:spPr>
      </p:sp>
      <p:sp>
        <p:nvSpPr>
          <p:cNvPr id="15" name="flow-number-4">
            <a:extLst>
              <a:ext uri="{FF2B5EF4-FFF2-40B4-BE49-F238E27FC236}">
                <a16:creationId xmlns:a16="http://schemas.microsoft.com/office/drawing/2014/main" id="{4ACC7EAD-D572-4570-AFC2-A9A056F78D6A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flow-label-4">
            <a:extLst>
              <a:ext uri="{FF2B5EF4-FFF2-40B4-BE49-F238E27FC236}">
                <a16:creationId xmlns:a16="http://schemas.microsoft.com/office/drawing/2014/main" id="{F6FDC616-4F38-48A9-8433-3AED658C2454}"/>
              </a:ext>
            </a:extLst>
          </p:cNvPr>
          <p:cNvSpPr>
            <a:spLocks noGrp="1"/>
          </p:cNvSpPr>
          <p:nvPr/>
        </p:nvSpPr>
        <p:spPr>
          <a:xfrm>
            <a:off x="1695450" y="4257675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17" name="flow-description-4">
            <a:extLst>
              <a:ext uri="{FF2B5EF4-FFF2-40B4-BE49-F238E27FC236}">
                <a16:creationId xmlns:a16="http://schemas.microsoft.com/office/drawing/2014/main" id="{6C589428-75E6-43FA-9576-8FE2A99ABCD8}"/>
              </a:ext>
            </a:extLst>
          </p:cNvPr>
          <p:cNvSpPr>
            <a:spLocks noGrp="1"/>
          </p:cNvSpPr>
          <p:nvPr/>
        </p:nvSpPr>
        <p:spPr>
          <a:xfrm>
            <a:off x="3886200" y="4267200"/>
            <a:ext cx="7524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Search by text, sort by title and review totals.</a:t>
            </a:r>
          </a:p>
        </p:txBody>
      </p:sp>
      <p:sp>
        <p:nvSpPr>
          <p:cNvPr id="18" name="flow-divider-4">
            <a:extLst>
              <a:ext uri="{FF2B5EF4-FFF2-40B4-BE49-F238E27FC236}">
                <a16:creationId xmlns:a16="http://schemas.microsoft.com/office/drawing/2014/main" id="{623D2964-C5A6-4BEB-9C96-55F0BD64333D}"/>
              </a:ext>
            </a:extLst>
          </p:cNvPr>
          <p:cNvSpPr>
            <a:spLocks noGrp="1"/>
          </p:cNvSpPr>
          <p:nvPr/>
        </p:nvSpPr>
        <p:spPr>
          <a:xfrm>
            <a:off x="1695450" y="4819650"/>
            <a:ext cx="9696450" cy="9525"/>
          </a:xfrm>
          <a:prstGeom prst="rect">
            <a:avLst/>
          </a:prstGeom>
          <a:solidFill>
            <a:srgbClr val="D7E0EC"/>
          </a:solidFill>
          <a:ln w="0">
            <a:solidFill>
              <a:srgbClr val="D7E0EC"/>
            </a:solidFill>
            <a:prstDash val="solid"/>
          </a:ln>
        </p:spPr>
      </p:sp>
      <p:sp>
        <p:nvSpPr>
          <p:cNvPr id="19" name="flow-number-5">
            <a:extLst>
              <a:ext uri="{FF2B5EF4-FFF2-40B4-BE49-F238E27FC236}">
                <a16:creationId xmlns:a16="http://schemas.microsoft.com/office/drawing/2014/main" id="{94B46B46-22B8-4D66-97F4-4F2D2237A9C5}"/>
              </a:ext>
            </a:extLst>
          </p:cNvPr>
          <p:cNvSpPr>
            <a:spLocks noGrp="1"/>
          </p:cNvSpPr>
          <p:nvPr/>
        </p:nvSpPr>
        <p:spPr>
          <a:xfrm>
            <a:off x="819150" y="509587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250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flow-label-5">
            <a:extLst>
              <a:ext uri="{FF2B5EF4-FFF2-40B4-BE49-F238E27FC236}">
                <a16:creationId xmlns:a16="http://schemas.microsoft.com/office/drawing/2014/main" id="{1968C916-FB98-4772-82F3-7DEA68633501}"/>
              </a:ext>
            </a:extLst>
          </p:cNvPr>
          <p:cNvSpPr>
            <a:spLocks noGrp="1"/>
          </p:cNvSpPr>
          <p:nvPr/>
        </p:nvSpPr>
        <p:spPr>
          <a:xfrm>
            <a:off x="1695450" y="5124450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1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Persist</a:t>
            </a:r>
          </a:p>
        </p:txBody>
      </p:sp>
      <p:sp>
        <p:nvSpPr>
          <p:cNvPr id="21" name="flow-description-5">
            <a:extLst>
              <a:ext uri="{FF2B5EF4-FFF2-40B4-BE49-F238E27FC236}">
                <a16:creationId xmlns:a16="http://schemas.microsoft.com/office/drawing/2014/main" id="{5B6BBED0-32DD-414A-9F7B-B9D13BC4E83E}"/>
              </a:ext>
            </a:extLst>
          </p:cNvPr>
          <p:cNvSpPr>
            <a:spLocks noGrp="1"/>
          </p:cNvSpPr>
          <p:nvPr/>
        </p:nvSpPr>
        <p:spPr>
          <a:xfrm>
            <a:off x="3886200" y="5133975"/>
            <a:ext cx="7524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00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Save the playlist or load a validated file.</a:t>
            </a:r>
          </a:p>
        </p:txBody>
      </p:sp>
    </p:spTree>
    <p:extLst>
      <p:ext uri="{BB962C8B-B14F-4D97-AF65-F5344CB8AC3E}">
        <p14:creationId xmlns:p14="http://schemas.microsoft.com/office/powerpoint/2010/main" val="196308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5-title">
            <a:extLst>
              <a:ext uri="{FF2B5EF4-FFF2-40B4-BE49-F238E27FC236}">
                <a16:creationId xmlns:a16="http://schemas.microsoft.com/office/drawing/2014/main" id="{0A1844D4-3A64-4AA3-BB87-5FF88F3BBAA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CO4 · Classes, relationships and exceptions</a:t>
            </a:r>
          </a:p>
        </p:txBody>
      </p:sp>
      <p:sp>
        <p:nvSpPr>
          <p:cNvPr id="2" name="slide-5-title-rule">
            <a:extLst>
              <a:ext uri="{FF2B5EF4-FFF2-40B4-BE49-F238E27FC236}">
                <a16:creationId xmlns:a16="http://schemas.microsoft.com/office/drawing/2014/main" id="{7C43C159-1F31-4188-A522-94AE19565981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76300" cy="47625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3" name="co4-main">
            <a:extLst>
              <a:ext uri="{FF2B5EF4-FFF2-40B4-BE49-F238E27FC236}">
                <a16:creationId xmlns:a16="http://schemas.microsoft.com/office/drawing/2014/main" id="{EA2FC426-FB5B-4DE7-A812-CF136E16A639}"/>
              </a:ext>
            </a:extLst>
          </p:cNvPr>
          <p:cNvSpPr>
            <a:spLocks noGrp="1"/>
          </p:cNvSpPr>
          <p:nvPr/>
        </p:nvSpPr>
        <p:spPr>
          <a:xfrm>
            <a:off x="742950" y="1638300"/>
            <a:ext cx="1047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55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Encapsulation keeps song data and playback state behind clear methods.</a:t>
            </a:r>
          </a:p>
        </p:txBody>
      </p:sp>
      <p:sp>
        <p:nvSpPr>
          <p:cNvPr id="4" name="co4-index-1">
            <a:extLst>
              <a:ext uri="{FF2B5EF4-FFF2-40B4-BE49-F238E27FC236}">
                <a16:creationId xmlns:a16="http://schemas.microsoft.com/office/drawing/2014/main" id="{B333B723-9D5E-4B74-A353-A2271A530946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co4-detail-1">
            <a:extLst>
              <a:ext uri="{FF2B5EF4-FFF2-40B4-BE49-F238E27FC236}">
                <a16:creationId xmlns:a16="http://schemas.microsoft.com/office/drawing/2014/main" id="{31CA265B-E173-497B-B59A-98527309A9D9}"/>
              </a:ext>
            </a:extLst>
          </p:cNvPr>
          <p:cNvSpPr>
            <a:spLocks noGrp="1"/>
          </p:cNvSpPr>
          <p:nvPr/>
        </p:nvSpPr>
        <p:spPr>
          <a:xfrm>
            <a:off x="1504950" y="2724150"/>
            <a:ext cx="990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Song stores private title, artist, duration and ListeningStats fields.</a:t>
            </a:r>
          </a:p>
        </p:txBody>
      </p:sp>
      <p:sp>
        <p:nvSpPr>
          <p:cNvPr id="6" name="co4-index-2">
            <a:extLst>
              <a:ext uri="{FF2B5EF4-FFF2-40B4-BE49-F238E27FC236}">
                <a16:creationId xmlns:a16="http://schemas.microsoft.com/office/drawing/2014/main" id="{A5A47533-AA7F-469E-8B98-716D78FC21D7}"/>
              </a:ext>
            </a:extLst>
          </p:cNvPr>
          <p:cNvSpPr>
            <a:spLocks noGrp="1"/>
          </p:cNvSpPr>
          <p:nvPr/>
        </p:nvSpPr>
        <p:spPr>
          <a:xfrm>
            <a:off x="781050" y="343852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co4-detail-2">
            <a:extLst>
              <a:ext uri="{FF2B5EF4-FFF2-40B4-BE49-F238E27FC236}">
                <a16:creationId xmlns:a16="http://schemas.microsoft.com/office/drawing/2014/main" id="{24985977-560C-4644-8A9E-5DEC955ECA65}"/>
              </a:ext>
            </a:extLst>
          </p:cNvPr>
          <p:cNvSpPr>
            <a:spLocks noGrp="1"/>
          </p:cNvSpPr>
          <p:nvPr/>
        </p:nvSpPr>
        <p:spPr>
          <a:xfrm>
            <a:off x="1504950" y="3438525"/>
            <a:ext cx="990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PlaylistManager owns the song collection; each Song owns one ListeningStats object.</a:t>
            </a:r>
          </a:p>
        </p:txBody>
      </p:sp>
      <p:sp>
        <p:nvSpPr>
          <p:cNvPr id="8" name="co4-index-3">
            <a:extLst>
              <a:ext uri="{FF2B5EF4-FFF2-40B4-BE49-F238E27FC236}">
                <a16:creationId xmlns:a16="http://schemas.microsoft.com/office/drawing/2014/main" id="{BF9A6383-84C7-4160-AA34-09084FEE9AB5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co4-detail-3">
            <a:extLst>
              <a:ext uri="{FF2B5EF4-FFF2-40B4-BE49-F238E27FC236}">
                <a16:creationId xmlns:a16="http://schemas.microsoft.com/office/drawing/2014/main" id="{FA328393-E046-4449-84DA-7E58317CA51E}"/>
              </a:ext>
            </a:extLst>
          </p:cNvPr>
          <p:cNvSpPr>
            <a:spLocks noGrp="1"/>
          </p:cNvSpPr>
          <p:nvPr/>
        </p:nvSpPr>
        <p:spPr>
          <a:xfrm>
            <a:off x="1504950" y="4152900"/>
            <a:ext cx="990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Constructors reject blank text and nonpositive durations; duplicate title–artist pairs are rejected.</a:t>
            </a:r>
          </a:p>
        </p:txBody>
      </p:sp>
      <p:sp>
        <p:nvSpPr>
          <p:cNvPr id="10" name="co4-index-4">
            <a:extLst>
              <a:ext uri="{FF2B5EF4-FFF2-40B4-BE49-F238E27FC236}">
                <a16:creationId xmlns:a16="http://schemas.microsoft.com/office/drawing/2014/main" id="{34D8F61A-EF33-4415-B776-80096A9F875A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co4-detail-4">
            <a:extLst>
              <a:ext uri="{FF2B5EF4-FFF2-40B4-BE49-F238E27FC236}">
                <a16:creationId xmlns:a16="http://schemas.microsoft.com/office/drawing/2014/main" id="{7C31D08A-5567-4E50-99E8-F57364B93A26}"/>
              </a:ext>
            </a:extLst>
          </p:cNvPr>
          <p:cNvSpPr>
            <a:spLocks noGrp="1"/>
          </p:cNvSpPr>
          <p:nvPr/>
        </p:nvSpPr>
        <p:spPr>
          <a:xfrm>
            <a:off x="1504950" y="4867275"/>
            <a:ext cx="99060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NumberFormatException, invalid song numbers and file errors are handled at the input and file boundaries.</a:t>
            </a:r>
          </a:p>
        </p:txBody>
      </p:sp>
    </p:spTree>
    <p:extLst>
      <p:ext uri="{BB962C8B-B14F-4D97-AF65-F5344CB8AC3E}">
        <p14:creationId xmlns:p14="http://schemas.microsoft.com/office/powerpoint/2010/main" val="79438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6-title">
            <a:extLst>
              <a:ext uri="{FF2B5EF4-FFF2-40B4-BE49-F238E27FC236}">
                <a16:creationId xmlns:a16="http://schemas.microsoft.com/office/drawing/2014/main" id="{75ED7C87-B9E2-4E28-90CD-F9DA9F58FC8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CO5 · Strings, algorithms and files</a:t>
            </a:r>
          </a:p>
        </p:txBody>
      </p:sp>
      <p:sp>
        <p:nvSpPr>
          <p:cNvPr id="2" name="slide-6-title-rule">
            <a:extLst>
              <a:ext uri="{FF2B5EF4-FFF2-40B4-BE49-F238E27FC236}">
                <a16:creationId xmlns:a16="http://schemas.microsoft.com/office/drawing/2014/main" id="{DE7EB32B-D6F3-45C6-BC20-2A4DC0C21B6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76300" cy="47625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3" name="co5-heading-1">
            <a:extLst>
              <a:ext uri="{FF2B5EF4-FFF2-40B4-BE49-F238E27FC236}">
                <a16:creationId xmlns:a16="http://schemas.microsoft.com/office/drawing/2014/main" id="{0B165550-846E-4002-AF82-2B9ECF665906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4" name="co5-rule-1">
            <a:extLst>
              <a:ext uri="{FF2B5EF4-FFF2-40B4-BE49-F238E27FC236}">
                <a16:creationId xmlns:a16="http://schemas.microsoft.com/office/drawing/2014/main" id="{EEC9A57B-0FC2-412B-B090-A269AB852435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3143250" cy="28575"/>
          </a:xfrm>
          <a:prstGeom prst="rect">
            <a:avLst/>
          </a:prstGeom>
          <a:solidFill>
            <a:srgbClr val="0B2148"/>
          </a:solidFill>
          <a:ln w="0">
            <a:solidFill>
              <a:srgbClr val="0B2148"/>
            </a:solidFill>
            <a:prstDash val="solid"/>
          </a:ln>
        </p:spPr>
      </p:sp>
      <p:sp>
        <p:nvSpPr>
          <p:cNvPr id="5" name="co5-description-1">
            <a:extLst>
              <a:ext uri="{FF2B5EF4-FFF2-40B4-BE49-F238E27FC236}">
                <a16:creationId xmlns:a16="http://schemas.microsoft.com/office/drawing/2014/main" id="{67AB936D-D333-4713-869F-356E061EC3DB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3143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trim() cleans entries.</a:t>
            </a: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toLowerCase(Locale.ROOT) enables case-insensitive matching.</a:t>
            </a: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StringBuilder formats song details.</a:t>
            </a:r>
          </a:p>
        </p:txBody>
      </p:sp>
      <p:sp>
        <p:nvSpPr>
          <p:cNvPr id="6" name="co5-heading-2">
            <a:extLst>
              <a:ext uri="{FF2B5EF4-FFF2-40B4-BE49-F238E27FC236}">
                <a16:creationId xmlns:a16="http://schemas.microsoft.com/office/drawing/2014/main" id="{C619FA28-CB06-49CD-B7FE-88E661B63C14}"/>
              </a:ext>
            </a:extLst>
          </p:cNvPr>
          <p:cNvSpPr>
            <a:spLocks noGrp="1"/>
          </p:cNvSpPr>
          <p:nvPr/>
        </p:nvSpPr>
        <p:spPr>
          <a:xfrm>
            <a:off x="4514850" y="18478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SEARCH &amp; SORT</a:t>
            </a:r>
          </a:p>
        </p:txBody>
      </p:sp>
      <p:sp>
        <p:nvSpPr>
          <p:cNvPr id="7" name="co5-rule-2">
            <a:extLst>
              <a:ext uri="{FF2B5EF4-FFF2-40B4-BE49-F238E27FC236}">
                <a16:creationId xmlns:a16="http://schemas.microsoft.com/office/drawing/2014/main" id="{5E211BEA-9ED5-4476-9096-1CA07258CB87}"/>
              </a:ext>
            </a:extLst>
          </p:cNvPr>
          <p:cNvSpPr>
            <a:spLocks noGrp="1"/>
          </p:cNvSpPr>
          <p:nvPr/>
        </p:nvSpPr>
        <p:spPr>
          <a:xfrm>
            <a:off x="4514850" y="2324100"/>
            <a:ext cx="3143250" cy="28575"/>
          </a:xfrm>
          <a:prstGeom prst="rect">
            <a:avLst/>
          </a:prstGeom>
          <a:solidFill>
            <a:srgbClr val="0B2148"/>
          </a:solidFill>
          <a:ln w="0">
            <a:solidFill>
              <a:srgbClr val="0B2148"/>
            </a:solidFill>
            <a:prstDash val="solid"/>
          </a:ln>
        </p:spPr>
      </p:sp>
      <p:sp>
        <p:nvSpPr>
          <p:cNvPr id="8" name="co5-description-2">
            <a:extLst>
              <a:ext uri="{FF2B5EF4-FFF2-40B4-BE49-F238E27FC236}">
                <a16:creationId xmlns:a16="http://schemas.microsoft.com/office/drawing/2014/main" id="{6BBCDB71-4E2F-4732-842E-604B16CD3952}"/>
              </a:ext>
            </a:extLst>
          </p:cNvPr>
          <p:cNvSpPr>
            <a:spLocks noGrp="1"/>
          </p:cNvSpPr>
          <p:nvPr/>
        </p:nvSpPr>
        <p:spPr>
          <a:xfrm>
            <a:off x="4514850" y="2571750"/>
            <a:ext cx="3143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Predicate&lt;Song&gt; filters title and artist matches.</a:t>
            </a: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Comparator sorts by title, then artist.</a:t>
            </a: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Standard String comparison supports consistent ordering.</a:t>
            </a:r>
          </a:p>
        </p:txBody>
      </p:sp>
      <p:sp>
        <p:nvSpPr>
          <p:cNvPr id="9" name="co5-heading-3">
            <a:extLst>
              <a:ext uri="{FF2B5EF4-FFF2-40B4-BE49-F238E27FC236}">
                <a16:creationId xmlns:a16="http://schemas.microsoft.com/office/drawing/2014/main" id="{7A1F25D3-F35B-41E2-BB8E-9ACA7D7E4692}"/>
              </a:ext>
            </a:extLst>
          </p:cNvPr>
          <p:cNvSpPr>
            <a:spLocks noGrp="1"/>
          </p:cNvSpPr>
          <p:nvPr/>
        </p:nvSpPr>
        <p:spPr>
          <a:xfrm>
            <a:off x="8248650" y="18478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FILE I/O</a:t>
            </a:r>
          </a:p>
        </p:txBody>
      </p:sp>
      <p:sp>
        <p:nvSpPr>
          <p:cNvPr id="10" name="co5-rule-3">
            <a:extLst>
              <a:ext uri="{FF2B5EF4-FFF2-40B4-BE49-F238E27FC236}">
                <a16:creationId xmlns:a16="http://schemas.microsoft.com/office/drawing/2014/main" id="{B9A36C19-7428-428F-B511-B48811791220}"/>
              </a:ext>
            </a:extLst>
          </p:cNvPr>
          <p:cNvSpPr>
            <a:spLocks noGrp="1"/>
          </p:cNvSpPr>
          <p:nvPr/>
        </p:nvSpPr>
        <p:spPr>
          <a:xfrm>
            <a:off x="8248650" y="2324100"/>
            <a:ext cx="3143250" cy="28575"/>
          </a:xfrm>
          <a:prstGeom prst="rect">
            <a:avLst/>
          </a:prstGeom>
          <a:solidFill>
            <a:srgbClr val="0B2148"/>
          </a:solidFill>
          <a:ln w="0">
            <a:solidFill>
              <a:srgbClr val="0B2148"/>
            </a:solidFill>
            <a:prstDash val="solid"/>
          </a:ln>
        </p:spPr>
      </p:sp>
      <p:sp>
        <p:nvSpPr>
          <p:cNvPr id="11" name="co5-description-3">
            <a:extLst>
              <a:ext uri="{FF2B5EF4-FFF2-40B4-BE49-F238E27FC236}">
                <a16:creationId xmlns:a16="http://schemas.microsoft.com/office/drawing/2014/main" id="{F7F3E537-73C2-4943-A233-0BD0FC0EC193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3143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UTF-8 text files store tracks and listening stats.</a:t>
            </a: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The loader checks the version header and each record.</a:t>
            </a: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IOException reports read or write failures.</a:t>
            </a:r>
          </a:p>
        </p:txBody>
      </p:sp>
      <p:sp>
        <p:nvSpPr>
          <p:cNvPr id="12" name="co5-summary">
            <a:extLst>
              <a:ext uri="{FF2B5EF4-FFF2-40B4-BE49-F238E27FC236}">
                <a16:creationId xmlns:a16="http://schemas.microsoft.com/office/drawing/2014/main" id="{3AEF1C7C-F7B8-4262-AACF-7D2038688687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875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Playlist data can be searched, ordered and restored after the program closes.</a:t>
            </a:r>
          </a:p>
        </p:txBody>
      </p:sp>
    </p:spTree>
    <p:extLst>
      <p:ext uri="{BB962C8B-B14F-4D97-AF65-F5344CB8AC3E}">
        <p14:creationId xmlns:p14="http://schemas.microsoft.com/office/powerpoint/2010/main" val="424939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7-title">
            <a:extLst>
              <a:ext uri="{FF2B5EF4-FFF2-40B4-BE49-F238E27FC236}">
                <a16:creationId xmlns:a16="http://schemas.microsoft.com/office/drawing/2014/main" id="{6BF6B756-BA27-4659-B473-47A034DF04F1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CO6 · Collections, lambdas and streams</a:t>
            </a:r>
          </a:p>
        </p:txBody>
      </p:sp>
      <p:sp>
        <p:nvSpPr>
          <p:cNvPr id="2" name="slide-7-title-rule">
            <a:extLst>
              <a:ext uri="{FF2B5EF4-FFF2-40B4-BE49-F238E27FC236}">
                <a16:creationId xmlns:a16="http://schemas.microsoft.com/office/drawing/2014/main" id="{02646E0A-CC94-40A2-8FB9-D9A958D38D61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76300" cy="47625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3" name="co6-lead">
            <a:extLst>
              <a:ext uri="{FF2B5EF4-FFF2-40B4-BE49-F238E27FC236}">
                <a16:creationId xmlns:a16="http://schemas.microsoft.com/office/drawing/2014/main" id="{200D0D80-419B-49CC-827C-3916015ED422}"/>
              </a:ext>
            </a:extLst>
          </p:cNvPr>
          <p:cNvSpPr>
            <a:spLocks noGrp="1"/>
          </p:cNvSpPr>
          <p:nvPr/>
        </p:nvSpPr>
        <p:spPr>
          <a:xfrm>
            <a:off x="742950" y="1590675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4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Collections hold the songs; a stream pipeline processes them.</a:t>
            </a:r>
          </a:p>
        </p:txBody>
      </p:sp>
      <p:sp>
        <p:nvSpPr>
          <p:cNvPr id="4" name="co6-concepts">
            <a:extLst>
              <a:ext uri="{FF2B5EF4-FFF2-40B4-BE49-F238E27FC236}">
                <a16:creationId xmlns:a16="http://schemas.microsoft.com/office/drawing/2014/main" id="{DF347E27-8FC3-4D57-80D9-2A6B6B02D294}"/>
              </a:ext>
            </a:extLst>
          </p:cNvPr>
          <p:cNvSpPr>
            <a:spLocks noGrp="1"/>
          </p:cNvSpPr>
          <p:nvPr/>
        </p:nvSpPr>
        <p:spPr>
          <a:xfrm>
            <a:off x="800100" y="2695575"/>
            <a:ext cx="2857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20000"/>
              </a:lnSpc>
              <a:buNone/>
              <a:defRPr sz="20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ArrayList&lt;Song&gt;</a:t>
            </a:r>
          </a:p>
          <a:p>
            <a:pPr algn="l">
              <a:lnSpc>
                <a:spcPct val="120000"/>
              </a:lnSpc>
              <a:buNone/>
              <a:defRPr sz="20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Predicate&lt;Song&gt;</a:t>
            </a:r>
          </a:p>
          <a:p>
            <a:pPr algn="l">
              <a:lnSpc>
                <a:spcPct val="120000"/>
              </a:lnSpc>
              <a:buNone/>
              <a:defRPr sz="20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Comparator&lt;Song&gt;</a:t>
            </a:r>
          </a:p>
          <a:p>
            <a:pPr algn="l">
              <a:lnSpc>
                <a:spcPct val="120000"/>
              </a:lnSpc>
              <a:buNone/>
              <a:defRPr sz="20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Stream&lt;Song&gt;</a:t>
            </a:r>
          </a:p>
        </p:txBody>
      </p:sp>
      <p:sp>
        <p:nvSpPr>
          <p:cNvPr id="5" name="co6-definitions">
            <a:extLst>
              <a:ext uri="{FF2B5EF4-FFF2-40B4-BE49-F238E27FC236}">
                <a16:creationId xmlns:a16="http://schemas.microsoft.com/office/drawing/2014/main" id="{0522E2DD-4B3E-4825-BBF5-F58500527A81}"/>
              </a:ext>
            </a:extLst>
          </p:cNvPr>
          <p:cNvSpPr>
            <a:spLocks noGrp="1"/>
          </p:cNvSpPr>
          <p:nvPr/>
        </p:nvSpPr>
        <p:spPr>
          <a:xfrm>
            <a:off x="3714750" y="2695575"/>
            <a:ext cx="333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28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Resizable collection</a:t>
            </a:r>
          </a:p>
          <a:p>
            <a:pPr algn="l">
              <a:lnSpc>
                <a:spcPct val="128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Functional interface for filtering</a:t>
            </a:r>
          </a:p>
          <a:p>
            <a:pPr algn="l">
              <a:lnSpc>
                <a:spcPct val="128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Ordering rule for titles</a:t>
            </a:r>
          </a:p>
          <a:p>
            <a:pPr algn="l">
              <a:lnSpc>
                <a:spcPct val="128000"/>
              </a:lnSpc>
              <a:buNone/>
              <a:defRPr sz="1725" b="0">
                <a:solidFill>
                  <a:srgbClr val="1623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33A"/>
                </a:solidFill>
                <a:latin typeface="Aptos"/>
                <a:ea typeface="Aptos"/>
                <a:cs typeface="Aptos"/>
              </a:rPr>
              <a:t>Pipeline for sort, filter and totals</a:t>
            </a:r>
          </a:p>
        </p:txBody>
      </p:sp>
      <p:sp>
        <p:nvSpPr>
          <p:cNvPr id="6" name="co6-code-surface">
            <a:extLst>
              <a:ext uri="{FF2B5EF4-FFF2-40B4-BE49-F238E27FC236}">
                <a16:creationId xmlns:a16="http://schemas.microsoft.com/office/drawing/2014/main" id="{B33FF2CB-F248-4710-95B0-A8579146B1FC}"/>
              </a:ext>
            </a:extLst>
          </p:cNvPr>
          <p:cNvSpPr>
            <a:spLocks noGrp="1"/>
          </p:cNvSpPr>
          <p:nvPr/>
        </p:nvSpPr>
        <p:spPr>
          <a:xfrm>
            <a:off x="7477125" y="2457450"/>
            <a:ext cx="3952875" cy="2647950"/>
          </a:xfrm>
          <a:prstGeom prst="rect">
            <a:avLst/>
          </a:prstGeom>
          <a:solidFill>
            <a:srgbClr val="0B2148"/>
          </a:solidFill>
          <a:ln w="0">
            <a:solidFill>
              <a:srgbClr val="0B2148"/>
            </a:solidFill>
            <a:prstDash val="solid"/>
          </a:ln>
        </p:spPr>
      </p:sp>
      <p:sp>
        <p:nvSpPr>
          <p:cNvPr id="7" name="co6-code">
            <a:extLst>
              <a:ext uri="{FF2B5EF4-FFF2-40B4-BE49-F238E27FC236}">
                <a16:creationId xmlns:a16="http://schemas.microsoft.com/office/drawing/2014/main" id="{822847F3-D480-4CAB-B225-51463F9C766A}"/>
              </a:ext>
            </a:extLst>
          </p:cNvPr>
          <p:cNvSpPr>
            <a:spLocks noGrp="1"/>
          </p:cNvSpPr>
          <p:nvPr/>
        </p:nvSpPr>
        <p:spPr>
          <a:xfrm>
            <a:off x="7734300" y="2686050"/>
            <a:ext cx="34861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837"/>
          </a:bodyPr>
          <a:lstStyle>
            <a:def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playlist.searchSongs(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song -&gt; song.getTitle()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    .toLowerCase(Locale.ROOT)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    .contains(query));</a:t>
            </a:r>
          </a:p>
          <a:p>
            <a:endParaRPr sz="165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playlist.getSongs().stream()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.mapToInt(song -&gt; song.getStats()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    .getPlayCount())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  .sum();</a:t>
            </a:r>
          </a:p>
        </p:txBody>
      </p:sp>
      <p:sp>
        <p:nvSpPr>
          <p:cNvPr id="8" name="co6-caption">
            <a:extLst>
              <a:ext uri="{FF2B5EF4-FFF2-40B4-BE49-F238E27FC236}">
                <a16:creationId xmlns:a16="http://schemas.microsoft.com/office/drawing/2014/main" id="{B2FB29FA-27A3-4A04-B28C-D94CE86968BB}"/>
              </a:ext>
            </a:extLst>
          </p:cNvPr>
          <p:cNvSpPr>
            <a:spLocks noGrp="1"/>
          </p:cNvSpPr>
          <p:nvPr/>
        </p:nvSpPr>
        <p:spPr>
          <a:xfrm>
            <a:off x="7524750" y="530542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575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1637C"/>
                </a:solidFill>
                <a:latin typeface="Aptos"/>
                <a:ea typeface="Aptos"/>
                <a:cs typeface="Aptos"/>
              </a:rPr>
              <a:t>A lambda supplies the filter; the stream totals play counts.</a:t>
            </a:r>
          </a:p>
        </p:txBody>
      </p:sp>
    </p:spTree>
    <p:extLst>
      <p:ext uri="{BB962C8B-B14F-4D97-AF65-F5344CB8AC3E}">
        <p14:creationId xmlns:p14="http://schemas.microsoft.com/office/powerpoint/2010/main" val="2040383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8-title">
            <a:extLst>
              <a:ext uri="{FF2B5EF4-FFF2-40B4-BE49-F238E27FC236}">
                <a16:creationId xmlns:a16="http://schemas.microsoft.com/office/drawing/2014/main" id="{B40E6CC7-F4E4-4200-AC1E-3073811B2FC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36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Example playlist</a:t>
            </a:r>
          </a:p>
        </p:txBody>
      </p:sp>
      <p:sp>
        <p:nvSpPr>
          <p:cNvPr id="2" name="slide-8-title-rule">
            <a:extLst>
              <a:ext uri="{FF2B5EF4-FFF2-40B4-BE49-F238E27FC236}">
                <a16:creationId xmlns:a16="http://schemas.microsoft.com/office/drawing/2014/main" id="{42A7667B-AD79-45C9-8BCA-96F84A5AF44C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76300" cy="47625"/>
          </a:xfrm>
          <a:prstGeom prst="rect">
            <a:avLst/>
          </a:prstGeom>
          <a:solidFill>
            <a:srgbClr val="D4A94F"/>
          </a:solidFill>
          <a:ln w="0">
            <a:solidFill>
              <a:srgbClr val="D4A94F"/>
            </a:solidFill>
            <a:prstDash val="solid"/>
          </a:ln>
        </p:spPr>
      </p:sp>
      <p:sp>
        <p:nvSpPr>
          <p:cNvPr id="3" name="demo-intro">
            <a:extLst>
              <a:ext uri="{FF2B5EF4-FFF2-40B4-BE49-F238E27FC236}">
                <a16:creationId xmlns:a16="http://schemas.microsoft.com/office/drawing/2014/main" id="{77462BB7-C904-4840-A537-93168BE336C4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100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1637C"/>
                </a:solidFill>
                <a:latin typeface="Aptos"/>
                <a:ea typeface="Aptos"/>
                <a:cs typeface="Aptos"/>
              </a:rPr>
              <a:t>The program starts with two sample tracks.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28631B-B0B9-4CBD-9D44-D6E25378ED94}"/>
              </a:ext>
            </a:extLst>
          </p:cNvPr>
          <p:cNvGraphicFramePr/>
          <p:nvPr/>
        </p:nvGraphicFramePr>
        <p:xfrm>
          <a:off x="857250" y="2362200"/>
          <a:ext cx="10477500" cy="1943100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Track</a:t>
                      </a:r>
                    </a:p>
                  </a:txBody>
                  <a:tcPr>
                    <a:lnL w="9525">
                      <a:solidFill>
                        <a:srgbClr val="D3A64B"/>
                      </a:solidFill>
                      <a:prstDash val="soli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>
                      <a:solidFill>
                        <a:srgbClr val="D3A64B"/>
                      </a:solidFill>
                      <a:prstDash val="soli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0B2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Artist</a:t>
                      </a:r>
                    </a:p>
                  </a:txBody>
                  <a:tcPr>
                    <a:lnL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>
                      <a:solidFill>
                        <a:srgbClr val="D3A64B"/>
                      </a:solidFill>
                      <a:prstDash val="soli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0B2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lnL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>
                      <a:solidFill>
                        <a:srgbClr val="D3A64B"/>
                      </a:solidFill>
                      <a:prstDash val="soli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0B21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33A"/>
                          </a:solidFill>
                        </a:rPr>
                        <a:t>Bohemian Rhapsody</a:t>
                      </a:r>
                    </a:p>
                  </a:txBody>
                  <a:tcPr>
                    <a:lnL w="9525">
                      <a:solidFill>
                        <a:srgbClr val="D3A64B"/>
                      </a:solidFill>
                      <a:prstDash val="soli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33A"/>
                          </a:solidFill>
                        </a:rPr>
                        <a:t>Queen</a:t>
                      </a:r>
                    </a:p>
                  </a:txBody>
                  <a:tcPr>
                    <a:lnL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33A"/>
                          </a:solidFill>
                        </a:rPr>
                        <a:t>354 sec</a:t>
                      </a:r>
                    </a:p>
                  </a:txBody>
                  <a:tcPr>
                    <a:lnL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33A"/>
                          </a:solidFill>
                        </a:rPr>
                        <a:t>Hotel California</a:t>
                      </a:r>
                    </a:p>
                  </a:txBody>
                  <a:tcPr>
                    <a:lnL w="9525">
                      <a:solidFill>
                        <a:srgbClr val="D3A64B"/>
                      </a:solidFill>
                      <a:prstDash val="soli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33A"/>
                          </a:solidFill>
                        </a:rPr>
                        <a:t>Eagles</a:t>
                      </a:r>
                    </a:p>
                  </a:txBody>
                  <a:tcPr>
                    <a:lnL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33A"/>
                          </a:solidFill>
                        </a:rPr>
                        <a:t>390 sec</a:t>
                      </a:r>
                    </a:p>
                  </a:txBody>
                  <a:tcPr>
                    <a:lnL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A64B"/>
                      </a:solidFill>
                      <a:prstDash val="solid"/>
                    </a:lnR>
                    <a:lnT w="9525" cap="flat" cmpd="sng" algn="ctr">
                      <a:solidFill>
                        <a:srgbClr val="D3A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A6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demo-total-label">
            <a:extLst>
              <a:ext uri="{FF2B5EF4-FFF2-40B4-BE49-F238E27FC236}">
                <a16:creationId xmlns:a16="http://schemas.microsoft.com/office/drawing/2014/main" id="{DF127403-0CC1-484A-BBDB-5FD0CB06A113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725" b="1">
                <a:solidFill>
                  <a:srgbClr val="D4A9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4A94F"/>
                </a:solidFill>
                <a:latin typeface="Aptos"/>
                <a:ea typeface="Aptos"/>
                <a:cs typeface="Aptos"/>
              </a:rPr>
              <a:t>Initial total duration</a:t>
            </a:r>
          </a:p>
        </p:txBody>
      </p:sp>
      <p:sp>
        <p:nvSpPr>
          <p:cNvPr id="6" name="demo-total">
            <a:extLst>
              <a:ext uri="{FF2B5EF4-FFF2-40B4-BE49-F238E27FC236}">
                <a16:creationId xmlns:a16="http://schemas.microsoft.com/office/drawing/2014/main" id="{404FBC35-091D-45D7-A56D-8C7527DEEB11}"/>
              </a:ext>
            </a:extLst>
          </p:cNvPr>
          <p:cNvSpPr>
            <a:spLocks noGrp="1"/>
          </p:cNvSpPr>
          <p:nvPr/>
        </p:nvSpPr>
        <p:spPr>
          <a:xfrm>
            <a:off x="876300" y="5248275"/>
            <a:ext cx="628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2400" b="1">
                <a:solidFill>
                  <a:srgbClr val="0B214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148"/>
                </a:solidFill>
                <a:latin typeface="Aptos"/>
                <a:ea typeface="Aptos"/>
                <a:cs typeface="Aptos"/>
              </a:rPr>
              <a:t>744 seconds  ·  12 min 24 sec</a:t>
            </a:r>
          </a:p>
        </p:txBody>
      </p:sp>
      <p:sp>
        <p:nvSpPr>
          <p:cNvPr id="7" name="demo-close">
            <a:extLst>
              <a:ext uri="{FF2B5EF4-FFF2-40B4-BE49-F238E27FC236}">
                <a16:creationId xmlns:a16="http://schemas.microsoft.com/office/drawing/2014/main" id="{E989C2DF-85E9-4AE5-8460-3EB07B68E98E}"/>
              </a:ext>
            </a:extLst>
          </p:cNvPr>
          <p:cNvSpPr>
            <a:spLocks noGrp="1"/>
          </p:cNvSpPr>
          <p:nvPr/>
        </p:nvSpPr>
        <p:spPr>
          <a:xfrm>
            <a:off x="876300" y="5943600"/>
            <a:ext cx="952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650" b="0">
                <a:solidFill>
                  <a:srgbClr val="51637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1637C"/>
                </a:solidFill>
                <a:latin typeface="Aptos"/>
                <a:ea typeface="Aptos"/>
                <a:cs typeface="Aptos"/>
              </a:rPr>
              <a:t>Add a track, play it, inspect the stats, then save.</a:t>
            </a:r>
          </a:p>
        </p:txBody>
      </p:sp>
    </p:spTree>
    <p:extLst>
      <p:ext uri="{BB962C8B-B14F-4D97-AF65-F5344CB8AC3E}">
        <p14:creationId xmlns:p14="http://schemas.microsoft.com/office/powerpoint/2010/main" val="11522834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DocSecurity>0</DocSecurity>
  <PresentationFormat>Widescreen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VIVEKANAND SARASWATHI</cp:lastModifiedBy>
  <cp:revision>1</cp:revision>
  <dcterms:created xsi:type="dcterms:W3CDTF">2026-10-14T04:53:33Z</dcterms:created>
  <dcterms:modified xsi:type="dcterms:W3CDTF">2026-10-14T05:25:00Z</dcterms:modified>
</cp:coreProperties>
</file>