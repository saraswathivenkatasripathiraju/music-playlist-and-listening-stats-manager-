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546955b6-cc76-4ea4-aeb0-5883c076aafe.fntdata" /><ns0:Relationship Id="rIdFont20" Type="http://schemas.openxmlformats.org/officeDocument/2006/relationships/font" Target="fonts/9fc304ed-e012-4d1d-8161-ab1b2421c951.fntdata" /><ns0:Relationship Id="rIdFont21" Type="http://schemas.openxmlformats.org/officeDocument/2006/relationships/font" Target="fonts/9de44ebe-0a5f-465e-ae4f-a85c37622a0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724400"/>
            <a:ext cx="10972800" cy="1514475"/>
          </a:xfrm>
          <a:prstGeom prst="roundRect">
            <a:avLst>
              <a:gd name="adj" fmla="val 12578"/>
            </a:avLst>
          </a:prstGeom>
          <a:solidFill>
            <a:srgbClr val="11182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34525" y="609600"/>
            <a:ext cx="2047875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6324600" cy="19981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43F5E"/>
                </a:solidFill>
                <a:latin typeface="Plus Jakarta Sans"/>
              </a:rPr>
              <a:t>Problem Solving Using Programming (Java)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5038725"/>
            <a:ext cx="11268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PROJECT TEAM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00125"/>
            <a:ext cx="6640830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Music Playlist &amp; Listening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Plus Jakarta Sans"/>
              </a:rPr>
              <a:t> Stats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41066"/>
            <a:ext cx="77866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CA3AF"/>
                </a:solidFill>
                <a:latin typeface="Plus Jakarta Sans"/>
              </a:rPr>
              <a:t>Course: 26SC1101E · ESCSARASWATHI VENKATA SRIPATHI RAJU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1915" y="800100"/>
            <a:ext cx="18930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BE123C"/>
                </a:solidFill>
                <a:latin typeface="Plus Jakarta Sans"/>
              </a:rPr>
              <a:t>KLH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1915" y="1152525"/>
            <a:ext cx="1893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74151"/>
                </a:solidFill>
                <a:latin typeface="Plus Jakarta Sans"/>
              </a:rPr>
              <a:t>DEEMED TO BE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5429250"/>
            <a:ext cx="405612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Team No: </a:t>
            </a:r>
            <a:r>
              <a:rPr b="1" sz="1500" i="0" u="none">
                <a:solidFill>
                  <a:srgbClr val="38BDF8"/>
                </a:solidFill>
                <a:latin typeface="Plus Jakarta Sans"/>
              </a:rPr>
              <a:t>[ Team ID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5724525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CA3AF"/>
                </a:solidFill>
                <a:latin typeface="Plus Jakarta Sans"/>
              </a:rPr>
              <a:t>Date: 16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3624" y="5429250"/>
            <a:ext cx="405612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1. Sripathi Raju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3624" y="5686425"/>
            <a:ext cx="40561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CA3AF"/>
                </a:solidFill>
                <a:latin typeface="Plus Jakarta Sans"/>
              </a:rPr>
              <a:t>Roll No: 2620080059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3324" y="5429250"/>
            <a:ext cx="405612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2. Ajith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3324" y="5686425"/>
            <a:ext cx="40561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CA3AF"/>
                </a:solidFill>
                <a:latin typeface="Plus Jakarta Sans"/>
              </a:rPr>
              <a:t>Roll No: XXXXXXXXXX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5619"/>
            <a:ext cx="6682680" cy="2697212"/>
          </a:xfrm>
          <a:prstGeom prst="roundRect">
            <a:avLst>
              <a:gd name="adj" fmla="val 7062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025" y="4291756"/>
            <a:ext cx="597783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97080" y="2105025"/>
            <a:ext cx="3985319" cy="115252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97080" y="3448050"/>
            <a:ext cx="3985319" cy="9525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97080" y="4591050"/>
            <a:ext cx="3985319" cy="115252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2025" y="4529881"/>
            <a:ext cx="1285875" cy="390525"/>
          </a:xfrm>
          <a:prstGeom prst="roundRect">
            <a:avLst>
              <a:gd name="adj" fmla="val 2439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2025" y="4291756"/>
            <a:ext cx="597783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0300" y="4529881"/>
            <a:ext cx="1343025" cy="390525"/>
          </a:xfrm>
          <a:prstGeom prst="roundRect">
            <a:avLst>
              <a:gd name="adj" fmla="val 2439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95725" y="4529881"/>
            <a:ext cx="1257300" cy="390525"/>
          </a:xfrm>
          <a:prstGeom prst="roundRect">
            <a:avLst>
              <a:gd name="adj" fmla="val 2439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97080" y="2105025"/>
            <a:ext cx="57150" cy="1152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97080" y="3448050"/>
            <a:ext cx="57150" cy="952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97080" y="4591050"/>
            <a:ext cx="57150" cy="1152525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00" y="666750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676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71525"/>
            <a:ext cx="2075259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Abstract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928044"/>
            <a:ext cx="6073080" cy="1097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F3F4F6"/>
                </a:solidFill>
                <a:latin typeface="Plus Jakarta Sans"/>
              </a:rPr>
              <a:t>A simple Java console program that manages your playlist and automatically tracks play counts and total listening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4625131"/>
            <a:ext cx="1000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OOP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0800" y="4625131"/>
            <a:ext cx="1057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Java Streams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6225" y="4625131"/>
            <a:ext cx="971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File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830" y="2333625"/>
            <a:ext cx="43091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Song &amp; Stats Linked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830" y="2628900"/>
            <a:ext cx="356621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CA3AF"/>
                </a:solidFill>
                <a:latin typeface="Plus Jakarta Sans"/>
              </a:rPr>
              <a:t>Tracks title, artist, play count, and seconds listened.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830" y="3676650"/>
            <a:ext cx="43091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Easy Search &amp; Sort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830" y="3971925"/>
            <a:ext cx="43091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CA3AF"/>
                </a:solidFill>
                <a:latin typeface="Plus Jakarta Sans"/>
              </a:rPr>
              <a:t>Quickly search by text and sort alphabetically.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830" y="4819650"/>
            <a:ext cx="43091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File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830" y="5114925"/>
            <a:ext cx="356621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CA3AF"/>
                </a:solidFill>
                <a:latin typeface="Plus Jakarta Sans"/>
              </a:rPr>
              <a:t>Saves playlist data so nothing is lost when closing.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7183"/>
            <a:ext cx="3479750" cy="2434232"/>
          </a:xfrm>
          <a:prstGeom prst="roundRect">
            <a:avLst>
              <a:gd name="adj" fmla="val 7825"/>
            </a:avLst>
          </a:prstGeom>
          <a:solidFill>
            <a:srgbClr val="111827"/>
          </a:solidFill>
          <a:ln w="9525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707183"/>
            <a:ext cx="3479750" cy="2434232"/>
          </a:xfrm>
          <a:prstGeom prst="roundRect">
            <a:avLst>
              <a:gd name="adj" fmla="val 7825"/>
            </a:avLst>
          </a:prstGeom>
          <a:solidFill>
            <a:srgbClr val="111827"/>
          </a:solidFill>
          <a:ln w="9525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707183"/>
            <a:ext cx="3479750" cy="2434232"/>
          </a:xfrm>
          <a:prstGeom prst="roundRect">
            <a:avLst>
              <a:gd name="adj" fmla="val 7825"/>
            </a:avLst>
          </a:prstGeom>
          <a:solidFill>
            <a:srgbClr val="111827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2150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21508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302150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145333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012" y="3145333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0650" y="3145333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Understanding 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69208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50208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D1D5DB"/>
                </a:solidFill>
                <a:latin typeface="Plus Jakarta Sans"/>
              </a:rPr>
              <a:t>Basic music programs lose track of play counts and stats, separating song info from listening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3669208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375" y="4050208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D1D5DB"/>
                </a:solidFill>
                <a:latin typeface="Plus Jakarta Sans"/>
              </a:rPr>
              <a:t>Every Song object holds its own ListeningStats inside a clean, object-oriented Java 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25" y="3669208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Main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6825" y="4050208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D1D5DB"/>
                </a:solidFill>
                <a:latin typeface="Plus Jakarta Sans"/>
              </a:rPr>
              <a:t>Validate user inputs, prevent duplicates, search instantly, and save tracks reliably to text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1958"/>
            <a:ext cx="3479750" cy="2281832"/>
          </a:xfrm>
          <a:prstGeom prst="roundRect">
            <a:avLst>
              <a:gd name="adj" fmla="val 834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811958"/>
            <a:ext cx="3479750" cy="2281832"/>
          </a:xfrm>
          <a:prstGeom prst="roundRect">
            <a:avLst>
              <a:gd name="adj" fmla="val 834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811958"/>
            <a:ext cx="3479750" cy="2281832"/>
          </a:xfrm>
          <a:prstGeom prst="roundRect">
            <a:avLst>
              <a:gd name="adj" fmla="val 834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95300"/>
            <a:ext cx="1114425" cy="285750"/>
          </a:xfrm>
          <a:prstGeom prst="roundRect">
            <a:avLst>
              <a:gd name="adj" fmla="val 2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150" y="695325"/>
            <a:ext cx="476250" cy="41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52450"/>
            <a:ext cx="904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CO1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47725"/>
            <a:ext cx="6225778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Algorithms &amp; Console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126283"/>
            <a:ext cx="35638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43F5E"/>
                </a:solidFill>
                <a:latin typeface="Plus Jakarta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21583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Primitive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02583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Uses basic integers (`int`) for track duration in seconds and play counts to save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126283"/>
            <a:ext cx="35638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43F5E"/>
                </a:solidFill>
                <a:latin typeface="Plus Jakarta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375" y="3621583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Console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375" y="4002583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Reads song title, artist, and duration step-by-step directly from the keyboard terminal.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6825" y="3126283"/>
            <a:ext cx="35638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43F5E"/>
                </a:solidFill>
                <a:latin typeface="Plus Jakarta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6825" y="3621583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Time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25" y="4002583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Converts total seconds into clean `Minutes : Seconds` formatting for user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57450"/>
            <a:ext cx="5353050" cy="136207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29350" y="2457450"/>
            <a:ext cx="5353050" cy="136207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086225"/>
            <a:ext cx="5353050" cy="136207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29350" y="4086225"/>
            <a:ext cx="5353050" cy="136207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95300"/>
            <a:ext cx="1133475" cy="285750"/>
          </a:xfrm>
          <a:prstGeom prst="roundRect">
            <a:avLst>
              <a:gd name="adj" fmla="val 26666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57450"/>
            <a:ext cx="57150" cy="136207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9350" y="2457450"/>
            <a:ext cx="57150" cy="136207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086225"/>
            <a:ext cx="57150" cy="136207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9350" y="4086225"/>
            <a:ext cx="57150" cy="136207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925" y="695325"/>
            <a:ext cx="371475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52450"/>
            <a:ext cx="923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CO2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47725"/>
            <a:ext cx="653831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Control Flow &amp; Decision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2724150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Interactive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067050"/>
            <a:ext cx="4857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Uses a `while` loop to keep the menu active until the user chooses to exit.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2724150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Input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067050"/>
            <a:ext cx="4857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Uses `if-else` checks to reject empty song names and invalid negative durations.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4352925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Duplicate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4695825"/>
            <a:ext cx="4857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Checks if a song already exists before adding it to prevent duplicate tracks.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352925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Switch Menu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695825"/>
            <a:ext cx="48577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Uses `switch-case` to run the exact feature selected by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3165"/>
            <a:ext cx="5334000" cy="2499270"/>
          </a:xfrm>
          <a:prstGeom prst="roundRect">
            <a:avLst>
              <a:gd name="adj" fmla="val 7622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03165"/>
            <a:ext cx="5334000" cy="2499270"/>
          </a:xfrm>
          <a:prstGeom prst="roundRect">
            <a:avLst>
              <a:gd name="adj" fmla="val 7622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95300"/>
            <a:ext cx="1143000" cy="285750"/>
          </a:xfrm>
          <a:prstGeom prst="roundRect">
            <a:avLst>
              <a:gd name="adj" fmla="val 26666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150" y="695325"/>
            <a:ext cx="4762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055590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3055590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5245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CO3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47725"/>
            <a:ext cx="612576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Methods &amp; Data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627090"/>
            <a:ext cx="607575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Modular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027140"/>
            <a:ext cx="47244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CA3AF"/>
                </a:solidFill>
                <a:latin typeface="Plus Jakarta Sans"/>
              </a:rPr>
              <a:t>Splits program logic into small helper functions like `addSong()`, `searchSongs()`, and `calculateTotal()`. Clean and easy to maintain.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627090"/>
            <a:ext cx="55911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Array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4027140"/>
            <a:ext cx="47244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CA3AF"/>
                </a:solidFill>
                <a:latin typeface="Plus Jakarta Sans"/>
              </a:rPr>
              <a:t>Loops through song records sequentially to compute total listening time, filter matches, and generate clean console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1008"/>
            <a:ext cx="3479750" cy="2243732"/>
          </a:xfrm>
          <a:prstGeom prst="roundRect">
            <a:avLst>
              <a:gd name="adj" fmla="val 849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831008"/>
            <a:ext cx="3479750" cy="2243732"/>
          </a:xfrm>
          <a:prstGeom prst="roundRect">
            <a:avLst>
              <a:gd name="adj" fmla="val 849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831008"/>
            <a:ext cx="3479750" cy="2243732"/>
          </a:xfrm>
          <a:prstGeom prst="roundRect">
            <a:avLst>
              <a:gd name="adj" fmla="val 849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95300"/>
            <a:ext cx="1143000" cy="285750"/>
          </a:xfrm>
          <a:prstGeom prst="roundRect">
            <a:avLst>
              <a:gd name="adj" fmla="val 2666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150" y="695325"/>
            <a:ext cx="47625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145333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375" y="3145333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825" y="3145333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5245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CO4 TOPICS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47725"/>
            <a:ext cx="79009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Classes, Relationships &amp; Exceptions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602533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Encapsulation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83533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Private fields (`title`, `artist`, `stats`) protected behind public getters and methods.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375" y="3602533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Has-A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3983533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Each `Song` owns a `ListeningStats` object; `PlaylistManager` owns all songs.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6825" y="3602533"/>
            <a:ext cx="37420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Exception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25" y="3983533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Handles invalid user inputs and file read errors without crashing the program.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1971"/>
            <a:ext cx="3479750" cy="2081807"/>
          </a:xfrm>
          <a:prstGeom prst="roundRect">
            <a:avLst>
              <a:gd name="adj" fmla="val 915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041451"/>
            <a:ext cx="3479750" cy="1822846"/>
          </a:xfrm>
          <a:prstGeom prst="roundRect">
            <a:avLst>
              <a:gd name="adj" fmla="val 1045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11971"/>
            <a:ext cx="3479750" cy="2081807"/>
          </a:xfrm>
          <a:prstGeom prst="roundRect">
            <a:avLst>
              <a:gd name="adj" fmla="val 915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95300"/>
            <a:ext cx="1143000" cy="285750"/>
          </a:xfrm>
          <a:prstGeom prst="roundRect">
            <a:avLst>
              <a:gd name="adj" fmla="val 26666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075" y="695325"/>
            <a:ext cx="314325" cy="41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16771"/>
            <a:ext cx="2965400" cy="1472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43F5E"/>
                </a:solidFill>
                <a:latin typeface="Plus Jakarta Sans"/>
              </a:rPr>
              <a:t>STRING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0850" y="3346251"/>
            <a:ext cx="2965400" cy="12132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SORT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7300" y="3216771"/>
            <a:ext cx="2965400" cy="1472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ADE80"/>
                </a:solidFill>
                <a:latin typeface="Plus Jakarta Sans"/>
              </a:rPr>
              <a:t>FILE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5245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CO5 TOPICS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47725"/>
            <a:ext cx="6150768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Strings, Searching &amp; File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550146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Clean Input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02571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Uses `.trim()` to remove extra spaces and `.toLowerCase()` for flexible, case-insensitive searches.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375" y="3679626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Alphabetical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4032051"/>
            <a:ext cx="29463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Sorts tracks alphabetically by Title, using Artist as a tie-breaker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6825" y="3550146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Save &amp; Reload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25" y="3902571"/>
            <a:ext cx="29463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Saves data to a UTF-8 text file and checks header versions when reloading tracks.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5050"/>
            <a:ext cx="6644580" cy="3295650"/>
          </a:xfrm>
          <a:prstGeom prst="roundRect">
            <a:avLst>
              <a:gd name="adj" fmla="val 5780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95300"/>
            <a:ext cx="1133475" cy="285750"/>
          </a:xfrm>
          <a:prstGeom prst="roundRect">
            <a:avLst>
              <a:gd name="adj" fmla="val 2666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0880" y="2686050"/>
            <a:ext cx="4061519" cy="1171575"/>
          </a:xfrm>
          <a:prstGeom prst="roundRect">
            <a:avLst>
              <a:gd name="adj" fmla="val 1300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0880" y="4048125"/>
            <a:ext cx="4061519" cy="1171575"/>
          </a:xfrm>
          <a:prstGeom prst="roundRect">
            <a:avLst>
              <a:gd name="adj" fmla="val 1300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525" y="695325"/>
            <a:ext cx="523875" cy="41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52450"/>
            <a:ext cx="923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CO6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47725"/>
            <a:ext cx="7138392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Collections, Lambdas &amp;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581275"/>
            <a:ext cx="761516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7280"/>
                </a:solidFill>
                <a:latin typeface="JetBrains Mono"/>
              </a:rPr>
              <a:t>// Lambda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828925"/>
            <a:ext cx="61873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8BDF8"/>
                </a:solidFill>
                <a:latin typeface="JetBrains Mono"/>
              </a:rPr>
              <a:t>playlist.searchSongs(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  s -&gt; s.getTitle()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    .toLowerCase()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    .contains(query)</a:t>
            </a:r>
            <a:r>
              <a:t>
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 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62425"/>
            <a:ext cx="761516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7280"/>
                </a:solidFill>
                <a:latin typeface="JetBrains Mono"/>
              </a:rPr>
              <a:t>// Stream Pipeline 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410075"/>
            <a:ext cx="61873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ADE80"/>
                </a:solidFill>
                <a:latin typeface="JetBrains Mono"/>
              </a:rPr>
              <a:t>playlist.getSongs().stream()</a:t>
            </a:r>
            <a:r>
              <a:t>
</a:t>
            </a:r>
            <a:r>
              <a:rPr b="0" sz="1125" i="0" u="none">
                <a:solidFill>
                  <a:srgbClr val="4ADE80"/>
                </a:solidFill>
                <a:latin typeface="JetBrains Mono"/>
              </a:rPr>
              <a:t>   .mapToInt(s -&gt; s.getStats()</a:t>
            </a:r>
            <a:r>
              <a:t>
</a:t>
            </a:r>
            <a:r>
              <a:rPr b="0" sz="1125" i="0" u="none">
                <a:solidFill>
                  <a:srgbClr val="4ADE80"/>
                </a:solidFill>
                <a:latin typeface="JetBrains Mono"/>
              </a:rPr>
              <a:t>     .getPlayCount())</a:t>
            </a:r>
            <a:r>
              <a:t>
</a:t>
            </a:r>
            <a:r>
              <a:rPr b="0" sz="1125" i="0" u="none">
                <a:solidFill>
                  <a:srgbClr val="4ADE80"/>
                </a:solidFill>
                <a:latin typeface="JetBrains Mono"/>
              </a:rPr>
              <a:t>   .sum();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9005" y="2924175"/>
            <a:ext cx="443299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ArrayList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9005" y="3219450"/>
            <a:ext cx="368051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CA3AF"/>
                </a:solidFill>
                <a:latin typeface="Plus Jakarta Sans"/>
              </a:rPr>
              <a:t>Stores dynamic song objects efficiently in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9005" y="4286250"/>
            <a:ext cx="443299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Stream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9005" y="4581525"/>
            <a:ext cx="368051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CA3AF"/>
                </a:solidFill>
                <a:latin typeface="Plus Jakarta Sans"/>
              </a:rPr>
              <a:t>Calculates total listening stats in single-line functional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1983"/>
            <a:ext cx="3479750" cy="1824632"/>
          </a:xfrm>
          <a:prstGeom prst="roundRect">
            <a:avLst>
              <a:gd name="adj" fmla="val 8352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011983"/>
            <a:ext cx="3479750" cy="1824632"/>
          </a:xfrm>
          <a:prstGeom prst="roundRect">
            <a:avLst>
              <a:gd name="adj" fmla="val 8352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011983"/>
            <a:ext cx="3479750" cy="1824632"/>
          </a:xfrm>
          <a:prstGeom prst="roundRect">
            <a:avLst>
              <a:gd name="adj" fmla="val 8352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011983"/>
            <a:ext cx="3479750" cy="57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6050" y="3011983"/>
            <a:ext cx="347975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02500" y="3011983"/>
            <a:ext cx="3479750" cy="571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73933"/>
            <a:ext cx="376707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OOP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54933"/>
            <a:ext cx="29654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Combines song details and listening statistics into clean, encapsulated Java objects.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0850" y="3373933"/>
            <a:ext cx="376707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Modern Java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850" y="3754933"/>
            <a:ext cx="29654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Uses Lambdas and Stream pipelines to easily filter, search, and calculate playback stats.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7300" y="3373933"/>
            <a:ext cx="376707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Reliable &amp; Persistent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3754933"/>
            <a:ext cx="29654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Prevents program crashes with input checks and keeps data safe using text file 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47887"/>
            <a:ext cx="5353050" cy="3514725"/>
          </a:xfrm>
          <a:prstGeom prst="roundRect">
            <a:avLst>
              <a:gd name="adj" fmla="val 4336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147887"/>
            <a:ext cx="5353050" cy="3514725"/>
          </a:xfrm>
          <a:prstGeom prst="roundRect">
            <a:avLst>
              <a:gd name="adj" fmla="val 4336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2386012"/>
            <a:ext cx="4876800" cy="2667000"/>
          </a:xfrm>
          <a:prstGeom prst="roundRect">
            <a:avLst>
              <a:gd name="adj" fmla="val 4285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67475" y="2386012"/>
            <a:ext cx="4876800" cy="2667000"/>
          </a:xfrm>
          <a:prstGeom prst="roundRect">
            <a:avLst>
              <a:gd name="adj" fmla="val 4285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2" y="3228975"/>
            <a:ext cx="4286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3228975"/>
            <a:ext cx="2857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Screen Shots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125" y="5205412"/>
            <a:ext cx="6096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Console Menu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5205412"/>
            <a:ext cx="6096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Saved File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6906" y="3762375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JetBrains Mono"/>
              </a:rPr>
              <a:t>[ Console Menu Screen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1656" y="4038600"/>
            <a:ext cx="292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B7280"/>
                </a:solidFill>
                <a:latin typeface="Plus Jakarta Sans"/>
              </a:rPr>
              <a:t>Add Track, Play &amp; View Listening 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6656" y="3762375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JetBrains Mono"/>
              </a:rPr>
              <a:t>[ Persisted File Data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0" y="4038600"/>
            <a:ext cx="2762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B7280"/>
                </a:solidFill>
                <a:latin typeface="Plus Jakarta Sans"/>
              </a:rPr>
              <a:t>UTF-8 Storage with Version Header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6000"/>
            <a:ext cx="5619750" cy="323850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34150" y="2243137"/>
            <a:ext cx="5048250" cy="2200275"/>
          </a:xfrm>
          <a:prstGeom prst="roundRect">
            <a:avLst>
              <a:gd name="adj" fmla="val 865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34150" y="4672012"/>
            <a:ext cx="5048250" cy="895350"/>
          </a:xfrm>
          <a:prstGeom prst="roundRect">
            <a:avLst>
              <a:gd name="adj" fmla="val 21276"/>
            </a:avLst>
          </a:prstGeom>
          <a:solidFill>
            <a:srgbClr val="111827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48475" y="3424237"/>
            <a:ext cx="4419600" cy="704850"/>
          </a:xfrm>
          <a:prstGeom prst="roundRect">
            <a:avLst>
              <a:gd name="adj" fmla="val 16216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3362325"/>
            <a:ext cx="3429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4967287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475" y="2557462"/>
            <a:ext cx="333375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Geo Tag Photo &amp; GitHub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2631" y="3971925"/>
            <a:ext cx="28336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Geo Tagged Team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2131" y="4267200"/>
            <a:ext cx="3214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CA3AF"/>
                </a:solidFill>
                <a:latin typeface="Plus Jakarta Sans"/>
              </a:rPr>
              <a:t>Insert project lab location photo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3052762"/>
            <a:ext cx="5343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CA3AF"/>
                </a:solidFill>
                <a:latin typeface="Plus Jakarta Sans"/>
              </a:rPr>
              <a:t>Access complete Java source code and storage files: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8975" y="3576637"/>
            <a:ext cx="4133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https://github.com/username/music-playlist-manager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0" y="2595562"/>
            <a:ext cx="247530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GitHub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7575" y="4910137"/>
            <a:ext cx="42880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Project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7575" y="5148262"/>
            <a:ext cx="4083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CA3AF"/>
                </a:solidFill>
                <a:latin typeface="Plus Jakarta Sans"/>
              </a:rPr>
              <a:t>All course outcomes (CO1 - CO6) fully covered.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